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2c35bfeabe4940" /><Relationship Type="http://schemas.openxmlformats.org/officeDocument/2006/relationships/extended-properties" Target="/docProps/app.xml" Id="Ref9f178fe5624ad1" /><Relationship Type="http://schemas.openxmlformats.org/officeDocument/2006/relationships/officeDocument" Target="/ppt/presentation.xml" Id="Rfefeac945c10437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7294cb8c7a48d8"/>
  </p:sldMasterIdLst>
  <p:notesMasterIdLst>
    <p:notesMasterId xmlns:r="http://schemas.openxmlformats.org/officeDocument/2006/relationships" r:id="R2a1b0045d4cf4ce3"/>
  </p:notesMasterIdLst>
  <p:sldIdLst>
    <p:sldId xmlns:r="http://schemas.openxmlformats.org/officeDocument/2006/relationships" id="256" r:id="Rf9adbabd9bf2490e"/>
    <p:sldId xmlns:r="http://schemas.openxmlformats.org/officeDocument/2006/relationships" id="257" r:id="R69dc13090a2e4f3a"/>
    <p:sldId xmlns:r="http://schemas.openxmlformats.org/officeDocument/2006/relationships" id="258" r:id="Rffd47ba26de545b6"/>
    <p:sldId xmlns:r="http://schemas.openxmlformats.org/officeDocument/2006/relationships" id="259" r:id="R1d4d41980867470b"/>
    <p:sldId xmlns:r="http://schemas.openxmlformats.org/officeDocument/2006/relationships" id="260" r:id="R26a31c47dfba4325"/>
    <p:sldId xmlns:r="http://schemas.openxmlformats.org/officeDocument/2006/relationships" id="261" r:id="R8dfbcc1f9eaf452d"/>
    <p:sldId xmlns:r="http://schemas.openxmlformats.org/officeDocument/2006/relationships" id="262" r:id="Rbe1c0fe3a44447d3"/>
    <p:sldId xmlns:r="http://schemas.openxmlformats.org/officeDocument/2006/relationships" id="263" r:id="R740b3b390f584c95"/>
    <p:sldId xmlns:r="http://schemas.openxmlformats.org/officeDocument/2006/relationships" id="264" r:id="R028eda67a8c8435c"/>
    <p:sldId xmlns:r="http://schemas.openxmlformats.org/officeDocument/2006/relationships" id="265" r:id="Rfd56952109f747d9"/>
    <p:sldId xmlns:r="http://schemas.openxmlformats.org/officeDocument/2006/relationships" id="266" r:id="Rac3ce286c0384b9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7a0765bb9ad4dbf" /><Relationship Type="http://schemas.openxmlformats.org/officeDocument/2006/relationships/slideMaster" Target="/ppt/slideMasters/slideMaster1.xml" Id="Rb67294cb8c7a48d8" /><Relationship Type="http://schemas.openxmlformats.org/officeDocument/2006/relationships/notesMaster" Target="/ppt/notesMasters/notesMaster1.xml" Id="R2a1b0045d4cf4ce3" /><Relationship Type="http://schemas.openxmlformats.org/officeDocument/2006/relationships/presProps" Target="/ppt/presProps.xml" Id="R92b09a602467453d" /><Relationship Type="http://schemas.openxmlformats.org/officeDocument/2006/relationships/viewProps" Target="/ppt/viewProps.xml" Id="R917e59f715594102" /><Relationship Type="http://schemas.openxmlformats.org/officeDocument/2006/relationships/tableStyles" Target="/ppt/tableStyles.xml" Id="R6e5a98ed7ae94642" /><Relationship Type="http://schemas.openxmlformats.org/officeDocument/2006/relationships/slide" Target="/ppt/slides/slide1.xml" Id="Rf9adbabd9bf2490e" /><Relationship Type="http://schemas.openxmlformats.org/officeDocument/2006/relationships/slide" Target="/ppt/slides/slide2.xml" Id="R69dc13090a2e4f3a" /><Relationship Type="http://schemas.openxmlformats.org/officeDocument/2006/relationships/slide" Target="/ppt/slides/slide3.xml" Id="Rffd47ba26de545b6" /><Relationship Type="http://schemas.openxmlformats.org/officeDocument/2006/relationships/slide" Target="/ppt/slides/slide4.xml" Id="R1d4d41980867470b" /><Relationship Type="http://schemas.openxmlformats.org/officeDocument/2006/relationships/slide" Target="/ppt/slides/slide5.xml" Id="R26a31c47dfba4325" /><Relationship Type="http://schemas.openxmlformats.org/officeDocument/2006/relationships/slide" Target="/ppt/slides/slide6.xml" Id="R8dfbcc1f9eaf452d" /><Relationship Type="http://schemas.openxmlformats.org/officeDocument/2006/relationships/slide" Target="/ppt/slides/slide7.xml" Id="Rbe1c0fe3a44447d3" /><Relationship Type="http://schemas.openxmlformats.org/officeDocument/2006/relationships/slide" Target="/ppt/slides/slide8.xml" Id="R740b3b390f584c95" /><Relationship Type="http://schemas.openxmlformats.org/officeDocument/2006/relationships/slide" Target="/ppt/slides/slide9.xml" Id="R028eda67a8c8435c" /><Relationship Type="http://schemas.openxmlformats.org/officeDocument/2006/relationships/slide" Target="/ppt/slides/slide10.xml" Id="Rfd56952109f747d9" /><Relationship Type="http://schemas.openxmlformats.org/officeDocument/2006/relationships/slide" Target="/ppt/slides/slide11.xml" Id="Rac3ce286c0384b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67f09fb281c4b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741e1f640a4e76" /><Relationship Type="http://schemas.openxmlformats.org/officeDocument/2006/relationships/notesMaster" Target="/ppt/notesMasters/notesMaster1.xml" Id="R7a49a2c0f06c48f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dab2bfdd2a149e4" /><Relationship Type="http://schemas.openxmlformats.org/officeDocument/2006/relationships/notesMaster" Target="/ppt/notesMasters/notesMaster1.xml" Id="R87dc96429908476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32751faccac4d52" /><Relationship Type="http://schemas.openxmlformats.org/officeDocument/2006/relationships/notesMaster" Target="/ppt/notesMasters/notesMaster1.xml" Id="Rbbf27bb6250541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4701817e8e948e8" /><Relationship Type="http://schemas.openxmlformats.org/officeDocument/2006/relationships/notesMaster" Target="/ppt/notesMasters/notesMaster1.xml" Id="R63826d862cd2494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352f23b8a14403b" /><Relationship Type="http://schemas.openxmlformats.org/officeDocument/2006/relationships/notesMaster" Target="/ppt/notesMasters/notesMaster1.xml" Id="Ree01e8faa8c64a3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a81f9af70194771" /><Relationship Type="http://schemas.openxmlformats.org/officeDocument/2006/relationships/notesMaster" Target="/ppt/notesMasters/notesMaster1.xml" Id="Rff5fdedadd0f4e8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d1415894ca84bef" /><Relationship Type="http://schemas.openxmlformats.org/officeDocument/2006/relationships/notesMaster" Target="/ppt/notesMasters/notesMaster1.xml" Id="R5fcdad63eb6f48d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1071977051f4c26" /><Relationship Type="http://schemas.openxmlformats.org/officeDocument/2006/relationships/notesMaster" Target="/ppt/notesMasters/notesMaster1.xml" Id="R2fd2850b9860455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8d57197a6324dfb" /><Relationship Type="http://schemas.openxmlformats.org/officeDocument/2006/relationships/notesMaster" Target="/ppt/notesMasters/notesMaster1.xml" Id="R291b378027a842a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afdf34d4394402e" /><Relationship Type="http://schemas.openxmlformats.org/officeDocument/2006/relationships/notesMaster" Target="/ppt/notesMasters/notesMaster1.xml" Id="Rdea15d1addda4b4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5d734f5e72c4e95" /><Relationship Type="http://schemas.openxmlformats.org/officeDocument/2006/relationships/notesMaster" Target="/ppt/notesMasters/notesMaster1.xml" Id="Rfce1b8c05db047a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9236e5b4f040f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b3a76205e146d2" /><Relationship Type="http://schemas.openxmlformats.org/officeDocument/2006/relationships/slideLayout" Target="/ppt/slideLayouts/slideLayout1.xml" Id="R98b8fdad83054ab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8b8fdad83054ab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b450b44ebf4270" /><Relationship Type="http://schemas.openxmlformats.org/officeDocument/2006/relationships/image" Target="/ppt/media/image.jpeg" Id="Rdbdf1c7d4c254a6b" /><Relationship Type="http://schemas.openxmlformats.org/officeDocument/2006/relationships/notesSlide" Target="/ppt/notesSlides/notesSlide1.xml" Id="R92dd19e6734a4ab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0fee3c26a44e38" /><Relationship Type="http://schemas.openxmlformats.org/officeDocument/2006/relationships/notesSlide" Target="/ppt/notesSlides/notesSlide2.xml" Id="R3aa9c6f8e3c548d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7708dc3624403e" /><Relationship Type="http://schemas.openxmlformats.org/officeDocument/2006/relationships/notesSlide" Target="/ppt/notesSlides/notesSlide3.xml" Id="Re51351b498b947e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a688b0e7f5462f" /><Relationship Type="http://schemas.openxmlformats.org/officeDocument/2006/relationships/notesSlide" Target="/ppt/notesSlides/notesSlide4.xml" Id="R0c51c939b95147b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00ffee49e64fcb" /><Relationship Type="http://schemas.openxmlformats.org/officeDocument/2006/relationships/notesSlide" Target="/ppt/notesSlides/notesSlide5.xml" Id="R1f5d80f76a5b42d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cae05b8f9c4104" /><Relationship Type="http://schemas.openxmlformats.org/officeDocument/2006/relationships/notesSlide" Target="/ppt/notesSlides/notesSlide6.xml" Id="R0d750ede81644df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fd993aaa344e6c" /><Relationship Type="http://schemas.openxmlformats.org/officeDocument/2006/relationships/notesSlide" Target="/ppt/notesSlides/notesSlide7.xml" Id="Rb61d995e0a9e45d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446ef54fbe4678" /><Relationship Type="http://schemas.openxmlformats.org/officeDocument/2006/relationships/notesSlide" Target="/ppt/notesSlides/notesSlide8.xml" Id="R8f74d78fe6ca4cd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d49154aa1542ac" /><Relationship Type="http://schemas.openxmlformats.org/officeDocument/2006/relationships/notesSlide" Target="/ppt/notesSlides/notesSlide9.xml" Id="Rc2bd2ec3420148c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642ef14dd34d0f" /><Relationship Type="http://schemas.openxmlformats.org/officeDocument/2006/relationships/notesSlide" Target="/ppt/notesSlides/notesSlide10.xml" Id="Re34afc9fd3454e9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607bb001344e3f" /><Relationship Type="http://schemas.openxmlformats.org/officeDocument/2006/relationships/image" Target="/ppt/media/image2.jpeg" Id="Ra59dfec8b9f843c0" /><Relationship Type="http://schemas.openxmlformats.org/officeDocument/2006/relationships/notesSlide" Target="/ppt/notesSlides/notesSlide11.xml" Id="Rf16bb045dd2b498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0EB78A-4E88-4BC4-9DAC-3C5ED5AE9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B7E2C6-02FA-49F7-81B3-5BD18DB2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0575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D9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BBA797-2E3F-4878-8B21-B2E518EC3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30575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9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96165E-4AAA-4AC5-82E8-4B1E02058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30575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9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4EEB66-5170-41DB-9977-75F28ED18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30575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2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df1c7d4c254a6b"/>
          <a:stretch xmlns:a="http://schemas.openxmlformats.org/drawingml/2006/main"/>
        </p:blipFill>
        <p:spPr>
          <a:xfrm xmlns:a="http://schemas.openxmlformats.org/drawingml/2006/main">
            <a:off x="9191625" y="323850"/>
            <a:ext cx="1619250" cy="1619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259C21-C572-4043-AE9D-98D49AB59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D9F2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9D9F2"/>
                </a:solidFill>
                <a:latin typeface="Aptos Display"/>
                <a:ea typeface="Aptos Display"/>
                <a:cs typeface="Aptos Display"/>
              </a:rPr>
              <a:t>SYNTRIASS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EA1A09-4385-432E-B9F0-4427A7162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52EE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52EE8"/>
                </a:solidFill>
                <a:latin typeface="Aptos"/>
                <a:ea typeface="Aptos"/>
                <a:cs typeface="Aptos"/>
              </a:rPr>
              <a:t>AIRON AGENT PASSPORT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F5D113-358F-4FBF-A8A3-481DC7DD2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69532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AI agents need passports before they enter regulated infrastructure.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026D20-3DD9-4CF4-A876-D7016BE4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43250"/>
            <a:ext cx="7239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8DEE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8DEEC"/>
                </a:solidFill>
                <a:latin typeface="Aptos"/>
                <a:ea typeface="Aptos"/>
                <a:cs typeface="Aptos"/>
              </a:rPr>
              <a:t>AIRON combines a portable Agent Passport layer with kernel-level AEGIS enforcement so autonomous agents can be identified, constrained, verified, revoked, and audited.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62BBFF-6611-4421-B692-32933D2E3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1960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AFD"/>
          </a:solidFill>
          <a:ln xmlns:a="http://schemas.openxmlformats.org/drawingml/2006/main" w="9525">
            <a:solidFill>
              <a:srgbClr val="E6FAF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EEFE55-98F8-40DF-96D1-175E317CD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67225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A102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020"/>
                </a:solidFill>
                <a:latin typeface="Aptos"/>
                <a:ea typeface="Aptos"/>
                <a:cs typeface="Aptos"/>
              </a:rPr>
              <a:t>AIP: passport and delegation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E50C5E-971A-457A-A6F4-08E4F09FA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4196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FFDE7C-19AA-43C8-88A4-275583FF6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467225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A102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020"/>
                </a:solidFill>
                <a:latin typeface="Aptos"/>
                <a:ea typeface="Aptos"/>
                <a:cs typeface="Aptos"/>
              </a:rPr>
              <a:t>AEGIS: eBPF/XDP enforcement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0CEC9A-AC23-421B-B2A6-F97091697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41960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DD"/>
          </a:solidFill>
          <a:ln xmlns:a="http://schemas.openxmlformats.org/drawingml/2006/main" w="9525">
            <a:solidFill>
              <a:srgbClr val="FFF6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832234-9495-4B08-B376-94F68FBB1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467225"/>
            <a:ext cx="190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A102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020"/>
                </a:solidFill>
                <a:latin typeface="Aptos"/>
                <a:ea typeface="Aptos"/>
                <a:cs typeface="Aptos"/>
              </a:rPr>
              <a:t>TRL-5 pilot-ready path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7532C6-3FB8-4411-A9D2-7B084BB87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66950"/>
            <a:ext cx="27813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6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F5CE72-F90B-42E6-A50D-BE060923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19350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0A66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0A66A"/>
                </a:solidFill>
                <a:latin typeface="Aptos Display"/>
                <a:ea typeface="Aptos Display"/>
                <a:cs typeface="Aptos Display"/>
              </a:rPr>
              <a:t>PASS / TOXIC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5517DB-0D74-41A3-A437-A8E6FF41C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384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Offline and online passport verification result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4EDD06-78BB-4438-9C3C-BDBEE730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505200"/>
            <a:ext cx="27813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6E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BDD344-8B43-4A0B-B0C0-1A76335F4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657600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9D9F2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9D9F2"/>
                </a:solidFill>
                <a:latin typeface="Aptos Display"/>
                <a:ea typeface="Aptos Display"/>
                <a:cs typeface="Aptos Display"/>
              </a:rPr>
              <a:t>CI-verified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2A8C61-88F0-418E-8D1F-8A554E69F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0767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AIP service, SDK, and verifier run in GitHub Actions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BDF0A5-5061-4DE2-855B-39C583627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743450"/>
            <a:ext cx="27813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6E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08692D-7152-402F-AE2F-D9244FBAB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895850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2A90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2A900"/>
                </a:solidFill>
                <a:latin typeface="Aptos Display"/>
                <a:ea typeface="Aptos Display"/>
                <a:cs typeface="Aptos Display"/>
              </a:rPr>
              <a:t>TRL-4 -&gt; 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9783F2-42A2-4F46-868B-E5DDC43C9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3149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Lab validation complete; relevant-environment pilots are next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15386A-5B44-4CF6-82E9-02577F7D6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10300"/>
            <a:ext cx="36671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D9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C29508-81BD-4D84-8718-22E85420D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8" y="6210300"/>
            <a:ext cx="36671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9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2E3CFA-2977-4365-B221-49A9E8CB3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6210300"/>
            <a:ext cx="36671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9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D08963-C106-49A1-9553-17AF6CF02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913" y="6210300"/>
            <a:ext cx="36671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2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92EA3C-997C-450F-9BC5-19803A1C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4198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91A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91A3"/>
                </a:solidFill>
                <a:latin typeface="Aptos"/>
                <a:ea typeface="Aptos"/>
                <a:cs typeface="Aptos"/>
              </a:rPr>
              <a:t>SYNTRIASS | AIRON pitch deck | Agent Passport + AEGIS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C7259F-7BCC-492B-B4DC-B7F9CBE21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A91A3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8A91A3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0721957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E139F0-9F1D-41BA-AE9A-8170EF78D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AE5708-7E43-47E2-87AE-86D9402B7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"/>
            <a:ext cx="9048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D9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F9461A-955E-4CFE-91CE-6511CCBD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3" y="466725"/>
            <a:ext cx="9048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9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04DE7B-1565-43A0-A83C-48A47DDCF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66725"/>
            <a:ext cx="9048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9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A98DBF-F14E-4337-A568-F1DB64535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8" y="466725"/>
            <a:ext cx="9048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2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906A43-4C2E-47A7-B388-C49E478D0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51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51FF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0BBDF7-97AE-4D27-A6D6-0A5D9499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7810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A1020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A1020"/>
                </a:solidFill>
                <a:latin typeface="Aptos Display"/>
                <a:ea typeface="Aptos Display"/>
                <a:cs typeface="Aptos Display"/>
              </a:rPr>
              <a:t>AI agents are being deployed without an accountability boundary.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D05E6A-B480-45D8-9995-E343CA9C8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71650"/>
            <a:ext cx="7048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A102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A1020"/>
                </a:solidFill>
                <a:latin typeface="Aptos"/>
                <a:ea typeface="Aptos"/>
                <a:cs typeface="Aptos"/>
              </a:rPr>
              <a:t>In regulated workflows, a model output is not enough. Auditors need to know which agent acted, who authorized it, what it was allowed to do, and whether that authority was still valid.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64EB95-CE03-4F89-AE9A-4D5925783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90850"/>
            <a:ext cx="2333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4B4F38-1810-4108-B035-A6380ABCD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9085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A8B3DA-E822-4C4B-8875-AC934A93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24200"/>
            <a:ext cx="20288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A10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A1020"/>
                </a:solidFill>
                <a:latin typeface="Aptos"/>
                <a:ea typeface="Aptos"/>
                <a:cs typeface="Aptos"/>
              </a:rPr>
              <a:t>Anonymous automation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354295-7F27-489C-B1CA-EB7FFCF3A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0425"/>
            <a:ext cx="20288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Shared API keys and service accounts hide the true actor.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821797-78C3-44F9-9CD7-225B45E53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57575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251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2251FF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FF2A17-6EAA-4182-AAF5-B8141BE8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990850"/>
            <a:ext cx="2333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19AC0C-7CF7-455B-8659-F1255BD0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99085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62C6F0-C4F7-4D19-A806-52C625B8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124200"/>
            <a:ext cx="20288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A10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A1020"/>
                </a:solidFill>
                <a:latin typeface="Aptos"/>
                <a:ea typeface="Aptos"/>
                <a:cs typeface="Aptos"/>
              </a:rPr>
              <a:t>Scope creep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6A3F6B-4DA5-48B4-B6A7-AAA819EB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400425"/>
            <a:ext cx="20288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Sub-agents inherit tools without mathematically bounded authority.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D5B1FD-0CEF-4682-8465-7DB78777D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457575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251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2251FF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0185B0-4EBC-4E59-9084-64F07DCFD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90850"/>
            <a:ext cx="2333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156848-0226-4F4F-A209-15B877D2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9085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26012C-0D45-4D17-837D-90E476BD2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24200"/>
            <a:ext cx="20288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A10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A1020"/>
                </a:solidFill>
                <a:latin typeface="Aptos"/>
                <a:ea typeface="Aptos"/>
                <a:cs typeface="Aptos"/>
              </a:rPr>
              <a:t>No court-grade trail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8B5FCE-BC06-4892-B9FF-F6410F5F2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00425"/>
            <a:ext cx="20288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Logs are fragmented and cannot prove delegation lineage.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7D984A-8F5F-4EDC-88F1-EB48143CE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57575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251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2251FF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E8E235-2745-4FFE-AA5C-154C91652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876550"/>
            <a:ext cx="2000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CEC"/>
          </a:solidFill>
          <a:ln xmlns:a="http://schemas.openxmlformats.org/drawingml/2006/main" w="9525">
            <a:solidFill>
              <a:srgbClr val="F0B7B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D74646-EDC3-4E92-94BA-7F880D87E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12420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43D3D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C43D3D"/>
                </a:solidFill>
                <a:latin typeface="Aptos Display"/>
                <a:ea typeface="Aptos Display"/>
                <a:cs typeface="Aptos Display"/>
              </a:rPr>
              <a:t>Liability gap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711AA9-67F6-48BB-A586-3B55ECB77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486150"/>
            <a:ext cx="15621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A102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A1020"/>
                </a:solidFill>
                <a:latin typeface="Aptos"/>
                <a:ea typeface="Aptos"/>
                <a:cs typeface="Aptos"/>
              </a:rPr>
              <a:t>A breach can scale at machine speed while ownership stays unclear.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254BA3-1ACA-40DE-A894-8FF5954BB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10300"/>
            <a:ext cx="36671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D9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EA6548-5BCD-4455-99E9-5220A478F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8" y="6210300"/>
            <a:ext cx="36671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9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D0E137-AFB3-4E22-BA72-5DCE7E4FE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6210300"/>
            <a:ext cx="36671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9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1E5C18-0ABC-4F39-B0A2-6C5DD4C11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913" y="6210300"/>
            <a:ext cx="36671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2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57C60E-6D5F-4378-B89E-1DDFAF5DE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4198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91A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91A3"/>
                </a:solidFill>
                <a:latin typeface="Aptos"/>
                <a:ea typeface="Aptos"/>
                <a:cs typeface="Aptos"/>
              </a:rPr>
              <a:t>SYNTRIASS | AIRON Trust Infrastructure | Confidential pilot deck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35342B-65F5-4060-96A7-E22170C3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A91A3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8A91A3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5778626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1C440C-B7F6-45D9-8997-9FCA7BFE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503760-C65C-4BDE-A76E-E877475F3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"/>
            <a:ext cx="9048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D9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5063DB-E75B-48A5-8B1A-705105868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3" y="466725"/>
            <a:ext cx="9048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9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1BD607-C7B3-4886-A7EF-B3222FEA9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66725"/>
            <a:ext cx="9048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9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EFC8DD-4CBD-4592-B339-3B21F2B9A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8" y="466725"/>
            <a:ext cx="9048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2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3A4DB0-0BE6-40CE-8CD0-378B83CFF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51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51FF"/>
                </a:solidFill>
                <a:latin typeface="Aptos"/>
                <a:ea typeface="Aptos"/>
                <a:cs typeface="Aptos"/>
              </a:rPr>
              <a:t>SOLUTION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9C0C21-DF87-4D70-BC86-0782305A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7620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A1020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A1020"/>
                </a:solidFill>
                <a:latin typeface="Aptos Display"/>
                <a:ea typeface="Aptos Display"/>
                <a:cs typeface="Aptos Display"/>
              </a:rPr>
              <a:t>AIRON Agent Passport gives every agent a portable credential.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BFC0E9-02CB-4FC1-B780-C7D8CFD68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685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A102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A1020"/>
                </a:solidFill>
                <a:latin typeface="Aptos"/>
                <a:ea typeface="Aptos"/>
                <a:cs typeface="Aptos"/>
              </a:rPr>
              <a:t>The passport is a signed JSON document that travels with the agent and can be verified before tool execution or during offline audit.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EE6E59-190F-4F17-ADC8-770B0F734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62200"/>
            <a:ext cx="419100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6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6FB85A-336B-4A55-9589-5A73CF6AF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67000"/>
            <a:ext cx="36195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A1020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0A1020"/>
                </a:solidFill>
                <a:latin typeface="Aptos Mono"/>
                <a:ea typeface="Aptos Mono"/>
                <a:cs typeface="Aptos Mono"/>
              </a:rPr>
              <a:t>{</a:t>
            </a:r>
          </a:p>
          <a:p xmlns:a="http://schemas.openxmlformats.org/drawingml/2006/main">
            <a:pPr algn="l">
              <a:defRPr sz="1500" b="0">
                <a:solidFill>
                  <a:srgbClr val="0A1020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0A1020"/>
                </a:solidFill>
                <a:latin typeface="Aptos Mono"/>
                <a:ea typeface="Aptos Mono"/>
                <a:cs typeface="Aptos Mono"/>
              </a:rPr>
              <a:t>  header: AIP-PASSPORT,</a:t>
            </a:r>
          </a:p>
          <a:p xmlns:a="http://schemas.openxmlformats.org/drawingml/2006/main">
            <a:pPr algn="l">
              <a:defRPr sz="1500" b="0">
                <a:solidFill>
                  <a:srgbClr val="0A1020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0A1020"/>
                </a:solidFill>
                <a:latin typeface="Aptos Mono"/>
                <a:ea typeface="Aptos Mono"/>
                <a:cs typeface="Aptos Mono"/>
              </a:rPr>
              <a:t>  subject: agent + keys,</a:t>
            </a:r>
          </a:p>
          <a:p xmlns:a="http://schemas.openxmlformats.org/drawingml/2006/main">
            <a:pPr algn="l">
              <a:defRPr sz="1500" b="0">
                <a:solidFill>
                  <a:srgbClr val="0A1020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0A1020"/>
                </a:solidFill>
                <a:latin typeface="Aptos Mono"/>
                <a:ea typeface="Aptos Mono"/>
                <a:cs typeface="Aptos Mono"/>
              </a:rPr>
              <a:t>  issuer: AIRON root,</a:t>
            </a:r>
          </a:p>
          <a:p xmlns:a="http://schemas.openxmlformats.org/drawingml/2006/main">
            <a:pPr algn="l">
              <a:defRPr sz="1500" b="0">
                <a:solidFill>
                  <a:srgbClr val="0A1020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0A1020"/>
                </a:solidFill>
                <a:latin typeface="Aptos Mono"/>
                <a:ea typeface="Aptos Mono"/>
                <a:cs typeface="Aptos Mono"/>
              </a:rPr>
              <a:t>  constraints: scopes + expiry,</a:t>
            </a:r>
          </a:p>
          <a:p xmlns:a="http://schemas.openxmlformats.org/drawingml/2006/main">
            <a:pPr algn="l">
              <a:defRPr sz="1500" b="0">
                <a:solidFill>
                  <a:srgbClr val="0A1020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0A1020"/>
                </a:solidFill>
                <a:latin typeface="Aptos Mono"/>
                <a:ea typeface="Aptos Mono"/>
                <a:cs typeface="Aptos Mono"/>
              </a:rPr>
              <a:t>  lineage: signed authority,</a:t>
            </a:r>
          </a:p>
          <a:p xmlns:a="http://schemas.openxmlformats.org/drawingml/2006/main">
            <a:pPr algn="l">
              <a:defRPr sz="1500" b="0">
                <a:solidFill>
                  <a:srgbClr val="0A1020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0A1020"/>
                </a:solidFill>
                <a:latin typeface="Aptos Mono"/>
                <a:ea typeface="Aptos Mono"/>
                <a:cs typeface="Aptos Mono"/>
              </a:rPr>
              <a:t>  environmental_lock: runtime,</a:t>
            </a:r>
          </a:p>
          <a:p xmlns:a="http://schemas.openxmlformats.org/drawingml/2006/main">
            <a:pPr algn="l">
              <a:defRPr sz="1500" b="0">
                <a:solidFill>
                  <a:srgbClr val="0A1020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0A1020"/>
                </a:solidFill>
                <a:latin typeface="Aptos Mono"/>
                <a:ea typeface="Aptos Mono"/>
                <a:cs typeface="Aptos Mono"/>
              </a:rPr>
              <a:t>  proof: signature</a:t>
            </a:r>
          </a:p>
          <a:p xmlns:a="http://schemas.openxmlformats.org/drawingml/2006/main">
            <a:pPr algn="l">
              <a:defRPr sz="1500" b="0">
                <a:solidFill>
                  <a:srgbClr val="0A1020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0A1020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AF122F-CF96-4692-9701-D5F85ABB8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717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251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251FF"/>
                </a:solidFill>
                <a:latin typeface="Aptos"/>
                <a:ea typeface="Aptos"/>
                <a:cs typeface="Aptos"/>
              </a:rPr>
              <a:t>IDENTITY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B6A0BC-4A6A-4678-9F2A-5B03F396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1940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A102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A1020"/>
                </a:solidFill>
                <a:latin typeface="Aptos"/>
                <a:ea typeface="Aptos"/>
                <a:cs typeface="Aptos"/>
              </a:rPr>
              <a:t>Agent ID, friendly name, and public key fields.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F68C55-F845-475C-B556-A5C904587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338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251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251FF"/>
                </a:solidFill>
                <a:latin typeface="Aptos"/>
                <a:ea typeface="Aptos"/>
                <a:cs typeface="Aptos"/>
              </a:rPr>
              <a:t>AUTHORITY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9A9DAC-4C87-49E6-ABF5-566CA5222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81450"/>
            <a:ext cx="2266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A102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A1020"/>
                </a:solidFill>
                <a:latin typeface="Aptos"/>
                <a:ea typeface="Aptos"/>
                <a:cs typeface="Aptos"/>
              </a:rPr>
              <a:t>Issuer identity and signed lineage bind the passport to a parent AIP token.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E7CB65-504B-4BF1-976D-9E6F07650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251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251FF"/>
                </a:solidFill>
                <a:latin typeface="Aptos"/>
                <a:ea typeface="Aptos"/>
                <a:cs typeface="Aptos"/>
              </a:rPr>
              <a:t>CONSTRAINTS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A97569-05FF-444A-9867-0F3AEF379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19400"/>
            <a:ext cx="2266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A102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A1020"/>
                </a:solidFill>
                <a:latin typeface="Aptos"/>
                <a:ea typeface="Aptos"/>
                <a:cs typeface="Aptos"/>
              </a:rPr>
              <a:t>Capability list, expiry, and max delegation depth define what the agent can do.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DA5AC0-3E53-437D-AF2D-1DCD1912F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243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251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251FF"/>
                </a:solidFill>
                <a:latin typeface="Aptos"/>
                <a:ea typeface="Aptos"/>
                <a:cs typeface="Aptos"/>
              </a:rPr>
              <a:t>PROOF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11F842-6C2E-4EC8-84A1-D9F79C5E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71950"/>
            <a:ext cx="2266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A102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A1020"/>
                </a:solidFill>
                <a:latin typeface="Aptos"/>
                <a:ea typeface="Aptos"/>
                <a:cs typeface="Aptos"/>
              </a:rPr>
              <a:t>Ed25519 proof in Phase 1; ML-DSA field reserved for hybrid PQC upgrade.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43C118-E42B-40D9-B0C7-C7B2407F6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58165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4A973B-2F1A-4293-BD8A-F835F9575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629275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A102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020"/>
                </a:solidFill>
                <a:latin typeface="Aptos"/>
                <a:ea typeface="Aptos"/>
                <a:cs typeface="Aptos"/>
              </a:rPr>
              <a:t>Verify online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E6F2E3-D367-4C22-99FB-8AC0E5DE4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58165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AFD"/>
          </a:solidFill>
          <a:ln xmlns:a="http://schemas.openxmlformats.org/drawingml/2006/main" w="9525">
            <a:solidFill>
              <a:srgbClr val="E6FAF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0ADCB2-6BD4-4D40-A328-5F4A46F41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629275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A102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020"/>
                </a:solidFill>
                <a:latin typeface="Aptos"/>
                <a:ea typeface="Aptos"/>
                <a:cs typeface="Aptos"/>
              </a:rPr>
              <a:t>Verify offline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06B2EC-5C09-4529-B4B9-54F3D9C27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5816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CEC"/>
          </a:solidFill>
          <a:ln xmlns:a="http://schemas.openxmlformats.org/drawingml/2006/main" w="9525">
            <a:solidFill>
              <a:srgbClr val="FBEC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D50ED1-9585-40E6-A3A4-DFF9A6D47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629275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43D3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43D3D"/>
                </a:solidFill>
                <a:latin typeface="Aptos"/>
                <a:ea typeface="Aptos"/>
                <a:cs typeface="Aptos"/>
              </a:rPr>
              <a:t>Tamper = TOXIC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0CF1D8-6401-400F-9325-ED7DFAC5E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10300"/>
            <a:ext cx="36671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D9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CD0195-E3DD-44C4-9F65-029AC770D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8" y="6210300"/>
            <a:ext cx="36671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9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7FB657-0388-49F3-ABE2-19CE46B1E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6210300"/>
            <a:ext cx="36671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9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B6366E-983F-469A-95B3-EC3D619FC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913" y="6210300"/>
            <a:ext cx="36671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2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B3F9B6-3430-4485-B63B-650A889B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4198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91A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91A3"/>
                </a:solidFill>
                <a:latin typeface="Aptos"/>
                <a:ea typeface="Aptos"/>
                <a:cs typeface="Aptos"/>
              </a:rPr>
              <a:t>SYNTRIASS | AIRON Trust Infrastructure | Confidential pilot deck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5710B1-35A0-4492-AA85-7061FF889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A91A3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8A91A3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1392177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547F1E-905A-40C3-9D84-3D821B15B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2AD586-AAE5-490C-A7E2-BA4CBC4F9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"/>
            <a:ext cx="9048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D9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691102-FC45-408D-9D16-42A628044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3" y="466725"/>
            <a:ext cx="9048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9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9E7A4F-0FF1-4142-95C2-7A9BA012F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66725"/>
            <a:ext cx="9048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9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209DF3-0FF7-4BEB-9D25-2DFDDB8F3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8" y="466725"/>
            <a:ext cx="9048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2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150FB1-A62D-4AA2-B308-6DA92F2C4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51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51FF"/>
                </a:solidFill>
                <a:latin typeface="Aptos"/>
                <a:ea typeface="Aptos"/>
                <a:cs typeface="Aptos"/>
              </a:rPr>
              <a:t>PRODUCT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022FA9-FB0D-4AB9-80B8-3B328296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7429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A1020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A1020"/>
                </a:solidFill>
                <a:latin typeface="Aptos Display"/>
                <a:ea typeface="Aptos Display"/>
                <a:cs typeface="Aptos Display"/>
              </a:rPr>
              <a:t>Passporting an agent is now an executable workflow.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66421B-F423-4FFA-80AC-D4117E74B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A102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A1020"/>
                </a:solidFill>
                <a:latin typeface="Aptos"/>
                <a:ea typeface="Aptos"/>
                <a:cs typeface="Aptos"/>
              </a:rPr>
              <a:t>The current repo exposes issuance, verification, tamper rejection, offline audit, and Python SDK UX.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B8C5B6-19A2-487F-A32F-A4F58566D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2000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63EB43-6FDF-413C-A0B3-7DC54DC68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4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CA989D-A31D-4D61-85D7-106870CB7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A10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A1020"/>
                </a:solidFill>
                <a:latin typeface="Aptos"/>
                <a:ea typeface="Aptos"/>
                <a:cs typeface="Aptos"/>
              </a:rPr>
              <a:t>1. Issue AIP token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C1F063-6EDB-4861-98E3-E12E0A6D1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90875"/>
            <a:ext cx="1695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POST /v1/identity/issue creates a signed agent token.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6F249E-4F5B-4FFA-A8A2-B36C12EEC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23850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251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2251FF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01B186-FEA9-410F-BB21-5ABACA1BE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81300"/>
            <a:ext cx="2190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457DBB-94DB-4908-88A2-F09929DB4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81300"/>
            <a:ext cx="4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D9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10EF02-50DD-4BD0-A23E-A7556A29A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14650"/>
            <a:ext cx="1885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A10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A1020"/>
                </a:solidFill>
                <a:latin typeface="Aptos"/>
                <a:ea typeface="Aptos"/>
                <a:cs typeface="Aptos"/>
              </a:rPr>
              <a:t>2. Issue passport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036031-D2C2-477E-8B6B-27B8EC22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190875"/>
            <a:ext cx="18859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POST /v1/passports/issue validates the token and signs the passport body.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8ECC51-78F3-4787-941D-26EF24127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23850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251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2251FF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07D030-1504-452E-8881-94DE49F4D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81300"/>
            <a:ext cx="2190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E136BD-FE4F-4A7A-AA16-896122FA1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81300"/>
            <a:ext cx="4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F3EEB3-D0EF-45F5-88E4-93CB60CCF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14650"/>
            <a:ext cx="1885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A10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A1020"/>
                </a:solidFill>
                <a:latin typeface="Aptos"/>
                <a:ea typeface="Aptos"/>
                <a:cs typeface="Aptos"/>
              </a:rPr>
              <a:t>3. Verify before tool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FED21B-27AF-4B6C-8A68-CDE82304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90875"/>
            <a:ext cx="18859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POST /v1/passports/verify returns PASS for valid authority.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52DC16-827E-4C0F-9BB8-606BA8B28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3850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251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2251FF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B226D8-B519-42EE-AE14-9CF6F66A0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781300"/>
            <a:ext cx="2190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724202-FB9B-4F45-AA8F-8161FB132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781300"/>
            <a:ext cx="4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0F67A0-ED6C-474E-B4EE-E3AF36B1B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914650"/>
            <a:ext cx="1885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A10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A1020"/>
                </a:solidFill>
                <a:latin typeface="Aptos"/>
                <a:ea typeface="Aptos"/>
                <a:cs typeface="Aptos"/>
              </a:rPr>
              <a:t>4. Tamper test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6B07A5-8E54-4D59-BF36-A0A433298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190875"/>
            <a:ext cx="18859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Capability mutation returns TOXIC instead of silent acceptance.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78DC13-9446-4B72-ADC3-79009DD06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572000"/>
            <a:ext cx="3333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A9A246-FA49-4573-81D8-279CF4FF1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619625"/>
            <a:ext cx="3143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A102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020"/>
                </a:solidFill>
                <a:latin typeface="Aptos"/>
                <a:ea typeface="Aptos"/>
                <a:cs typeface="Aptos"/>
              </a:rPr>
              <a:t>Python: AgentPassport(config).issue(...)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FE5F21-BEF7-40B2-8B27-784845A8E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57200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AFD"/>
          </a:solidFill>
          <a:ln xmlns:a="http://schemas.openxmlformats.org/drawingml/2006/main" w="9525">
            <a:solidFill>
              <a:srgbClr val="E6FAF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627EBA-7FB0-4512-B6D8-DF75F826E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619625"/>
            <a:ext cx="3524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A102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020"/>
                </a:solidFill>
                <a:latin typeface="Aptos"/>
                <a:ea typeface="Aptos"/>
                <a:cs typeface="Aptos"/>
              </a:rPr>
              <a:t>CLI: airon-passport verify agent.passport.json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05AA2A-5C33-4F28-833A-C6F270A41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200650"/>
            <a:ext cx="704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A102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A1020"/>
                </a:solidFill>
                <a:latin typeface="Aptos"/>
                <a:ea typeface="Aptos"/>
                <a:cs typeface="Aptos"/>
              </a:rPr>
              <a:t>Developer outcome: one credential can be passed across LangChain agents, API tools, notebooks, and audit workflows.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3FFC71-4DE6-43BC-86E5-FD305F73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10300"/>
            <a:ext cx="36671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D9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7290CCC-721F-474B-A788-5AE49B301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8" y="6210300"/>
            <a:ext cx="36671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9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5634E2E-AD71-4944-B358-C9435D5AA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6210300"/>
            <a:ext cx="36671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9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683CD3F-BC3F-4516-80FE-0F2E45222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913" y="6210300"/>
            <a:ext cx="36671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2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B69ECF3-E194-465C-83CC-A6C58CDF9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4198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91A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91A3"/>
                </a:solidFill>
                <a:latin typeface="Aptos"/>
                <a:ea typeface="Aptos"/>
                <a:cs typeface="Aptos"/>
              </a:rPr>
              <a:t>SYNTRIASS | AIRON Trust Infrastructure | Confidential pilot deck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4297742-2341-4BA6-BA28-5A4B21FD1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A91A3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8A91A3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3391500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98FB0A-93E6-4924-837C-0429757B4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CE370A-6A86-4E7A-8576-B2F1C0157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"/>
            <a:ext cx="9048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D9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D63B7B-6842-4DA0-9482-069AA8208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3" y="466725"/>
            <a:ext cx="9048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9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72D165-FBAB-4FE4-90C3-99BDEF4A6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66725"/>
            <a:ext cx="9048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9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18CE0F-700A-4218-9133-35A4A3C3E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8" y="466725"/>
            <a:ext cx="9048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2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FAF8A1-89A8-452D-B84B-C10D6A156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51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51FF"/>
                </a:solidFill>
                <a:latin typeface="Aptos"/>
                <a:ea typeface="Aptos"/>
                <a:cs typeface="Aptos"/>
              </a:rPr>
              <a:t>PLATFORM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49A969-7878-4F51-B718-8CF8C709B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7239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A1020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A1020"/>
                </a:solidFill>
                <a:latin typeface="Aptos Display"/>
                <a:ea typeface="Aptos Display"/>
                <a:cs typeface="Aptos Display"/>
              </a:rPr>
              <a:t>AIP governs the actor; AEGIS enforces the boundary.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F0CBC3-D8FF-4501-9D85-62139FF39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752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A102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A1020"/>
                </a:solidFill>
                <a:latin typeface="Aptos"/>
                <a:ea typeface="Aptos"/>
                <a:cs typeface="Aptos"/>
              </a:rPr>
              <a:t>Together they create a trust gateway for regulated agent traffic: identity decisions in user space, fast containment in kernel space.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14ACD2-0EEC-4D5A-A017-0BCDCBA2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28900"/>
            <a:ext cx="10287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BFCB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5A4B21-862E-4BEC-B263-189BD9EE2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813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251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251FF"/>
                </a:solidFill>
                <a:latin typeface="Aptos"/>
                <a:ea typeface="Aptos"/>
                <a:cs typeface="Aptos"/>
              </a:rPr>
              <a:t>AIP CONTROL PLANE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463EA4-CFA2-4B77-B0F4-BF5BD13E8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0"/>
            <a:ext cx="2000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2E1DE3-E8C9-4F2C-B083-851EB83CF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AA60D7-756E-42F0-BBF1-42BCAEF6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43250"/>
            <a:ext cx="1695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10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A1020"/>
                </a:solidFill>
                <a:latin typeface="Aptos"/>
                <a:ea typeface="Aptos"/>
                <a:cs typeface="Aptos"/>
              </a:rPr>
              <a:t>Agent Passport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FBAA7C-348E-4D6A-8316-ED351A6B2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90900"/>
            <a:ext cx="1695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Portable signed credential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BBE489-36AA-47EB-8984-00C2EC22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48000"/>
            <a:ext cx="209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191C92-CF81-48FC-8D44-FC850CFFE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4800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EB8646-5D9C-4478-9D5C-90BA385E2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143250"/>
            <a:ext cx="1790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10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A1020"/>
                </a:solidFill>
                <a:latin typeface="Aptos"/>
                <a:ea typeface="Aptos"/>
                <a:cs typeface="Aptos"/>
              </a:rPr>
              <a:t>Delegation lattice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ED5CE0-1996-4EC7-86A2-A83F5B17A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390900"/>
            <a:ext cx="1790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Scopes cannot exceed parent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4CD3C0-1C8A-41DA-8EE1-EE855827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48000"/>
            <a:ext cx="2000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3F1237-284E-4C0F-A9F1-C333D4550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4800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EE0F45-82CA-40E4-8B6D-2C0132CD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43250"/>
            <a:ext cx="1695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10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A1020"/>
                </a:solidFill>
                <a:latin typeface="Aptos"/>
                <a:ea typeface="Aptos"/>
                <a:cs typeface="Aptos"/>
              </a:rPr>
              <a:t>Revocation graph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D91375-AB7F-42CF-B1E3-F2DDE6C99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390900"/>
            <a:ext cx="1695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Cascade invalidation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E274C4-61AD-42E8-872A-5F83F1327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48000"/>
            <a:ext cx="2000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6D8BDF-0A70-465D-9D48-9253F84B7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4800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5862DB-D5E3-4F34-A901-3BB32619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143250"/>
            <a:ext cx="1695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10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A1020"/>
                </a:solidFill>
                <a:latin typeface="Aptos"/>
                <a:ea typeface="Aptos"/>
                <a:cs typeface="Aptos"/>
              </a:rPr>
              <a:t>EvidencePacket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94A188-071F-4E89-8EF2-0478A2F4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390900"/>
            <a:ext cx="1695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Audit-grade trace binding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AC1B83-7940-4202-AB2E-2824B619D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24350"/>
            <a:ext cx="10287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AFD"/>
          </a:solidFill>
          <a:ln xmlns:a="http://schemas.openxmlformats.org/drawingml/2006/main" w="9525">
            <a:solidFill>
              <a:srgbClr val="B8EAF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CAABD5-6CF4-4D79-AF8B-03354FE1F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767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9D9F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9D9F2"/>
                </a:solidFill>
                <a:latin typeface="Aptos"/>
                <a:ea typeface="Aptos"/>
                <a:cs typeface="Aptos"/>
              </a:rPr>
              <a:t>AEGIS ENFORCEMENT PLANE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8FBFDF-6CEB-4DB4-A86E-105024811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43450"/>
            <a:ext cx="2000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61FD13-1B9C-4600-94FC-E2CF26446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4345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D9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30A2C8-9523-4280-B2E5-9C8A2F2C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38700"/>
            <a:ext cx="1695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10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A1020"/>
                </a:solidFill>
                <a:latin typeface="Aptos"/>
                <a:ea typeface="Aptos"/>
                <a:cs typeface="Aptos"/>
              </a:rPr>
              <a:t>eBPF/XDP hook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59DF3B-7F36-4EF9-ADE6-490F231F3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86350"/>
            <a:ext cx="1695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Packet path interception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FC71E8-14E3-40AA-8FD2-C0AE1A7F2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743450"/>
            <a:ext cx="209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0CD2717-914F-4DFF-B760-B250935E8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74345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D9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9B87A6E-38BD-4B85-A3EE-BC4E15DF2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838700"/>
            <a:ext cx="1790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10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A1020"/>
                </a:solidFill>
                <a:latin typeface="Aptos"/>
                <a:ea typeface="Aptos"/>
                <a:cs typeface="Aptos"/>
              </a:rPr>
              <a:t>Session maps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C953F4B-02C6-42ED-B280-4284D52E1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086350"/>
            <a:ext cx="1790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Kernel-resident state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399E885-3EF4-45DD-9EB1-ACC7F7617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743450"/>
            <a:ext cx="2000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753F4C6-7152-42DB-83A6-3C6AFE4AB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74345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D9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D1CAF29-1A81-4D37-B0FB-13C026E76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838700"/>
            <a:ext cx="1695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10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A1020"/>
                </a:solidFill>
                <a:latin typeface="Aptos"/>
                <a:ea typeface="Aptos"/>
                <a:cs typeface="Aptos"/>
              </a:rPr>
              <a:t>Circuit breaker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AE8A4A3-A0EA-4260-BE24-7762883F8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086350"/>
            <a:ext cx="1695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Rogue-loop blocklist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4BABD41-53DA-48DB-A9DA-E5786875B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743450"/>
            <a:ext cx="2000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1ACFEA9-3E62-4C6B-87A5-D95907E50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74345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D9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C5AE937-8F9B-497F-98B1-99813300D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838700"/>
            <a:ext cx="1695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10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A1020"/>
                </a:solidFill>
                <a:latin typeface="Aptos"/>
                <a:ea typeface="Aptos"/>
                <a:cs typeface="Aptos"/>
              </a:rPr>
              <a:t>PQC session path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C0AE4B1-F372-4817-99E9-CCCEDF8D7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086350"/>
            <a:ext cx="1695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Hybrid keying roadmap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26D961D-6E3D-4C94-933D-909560F1A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924300"/>
            <a:ext cx="819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A1020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0A1020"/>
                </a:solidFill>
                <a:latin typeface="Aptos Mono"/>
                <a:ea typeface="Aptos Mono"/>
                <a:cs typeface="Aptos Mono"/>
              </a:rPr>
              <a:t>Agent request -&gt; passport check -&gt; policy decision -&gt; session enforcement -&gt; audit evidence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93D13DA-32A8-4C28-80F4-9B5536EA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10300"/>
            <a:ext cx="36671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D9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952AD5E-D582-41D0-8D7C-BA118A2A3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8" y="6210300"/>
            <a:ext cx="36671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9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2762E4D-49AD-4F0E-BEB2-9F2A09EA8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6210300"/>
            <a:ext cx="36671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9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97B506F-8AAB-4DBD-9C62-40423160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913" y="6210300"/>
            <a:ext cx="36671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2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436088E-15EE-4317-B092-5470BCCEE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4198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91A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91A3"/>
                </a:solidFill>
                <a:latin typeface="Aptos"/>
                <a:ea typeface="Aptos"/>
                <a:cs typeface="Aptos"/>
              </a:rPr>
              <a:t>SYNTRIASS | AIRON Trust Infrastructure | Confidential pilot deck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87CA8D7-437F-4928-8961-7DB8CFDB9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A91A3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8A91A3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686010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8AC0B6-4232-4E77-972F-6A51853A3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023038-D95B-4C2A-9475-67C1039F5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"/>
            <a:ext cx="9048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D9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29E218-83B8-4ABD-8F31-DF3CDE174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3" y="466725"/>
            <a:ext cx="9048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9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5865BA-1651-44E0-9067-2BEB24F3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66725"/>
            <a:ext cx="9048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9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B6C015-89C3-4804-BAA8-6AA2127CE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8" y="466725"/>
            <a:ext cx="9048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2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8A369B-E695-47E9-93C1-86855642F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A49F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A49F2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A841C3-311E-4496-BE47-7527E8E64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8191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A1020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A1020"/>
                </a:solidFill>
                <a:latin typeface="Aptos Display"/>
                <a:ea typeface="Aptos Display"/>
                <a:cs typeface="Aptos Display"/>
              </a:rPr>
              <a:t>The story has moved from code fragments to repeatable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F57AB2-E328-4014-B00C-17F5F4AB3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742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A102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A1020"/>
                </a:solidFill>
                <a:latin typeface="Aptos"/>
                <a:ea typeface="Aptos"/>
                <a:cs typeface="Aptos"/>
              </a:rPr>
              <a:t>AIP now has a testable passport schema, service endpoints, offline verifier, Python SDK, and Colab pilot harness.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9A8791-5236-4417-A6A1-47D15E7C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1809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6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3949CC-F6F8-425B-9243-5FA6A807A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1504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7A49F2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7A49F2"/>
                </a:solidFill>
                <a:latin typeface="Aptos Display"/>
                <a:ea typeface="Aptos Display"/>
                <a:cs typeface="Aptos Display"/>
              </a:rPr>
              <a:t>113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2ACA87-6F5C-484A-81FF-DEDDCEF3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57550"/>
            <a:ext cx="1504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aip-core tests in local validation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50C241-5E17-4C85-BF9B-54997124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686050"/>
            <a:ext cx="2190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6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B6C59F-B8A8-485E-BC91-96DCD547F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38450"/>
            <a:ext cx="1885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9D9F2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9D9F2"/>
                </a:solidFill>
                <a:latin typeface="Aptos Display"/>
                <a:ea typeface="Aptos Display"/>
                <a:cs typeface="Aptos Display"/>
              </a:rPr>
              <a:t>25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B36379-3DE9-45C6-8D59-B39EEBF73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257550"/>
            <a:ext cx="1885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aip-service tests including passport verifier checks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67DC7E-F251-4CC5-9F1C-D0FD17BB8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86050"/>
            <a:ext cx="1809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6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CDBD05-B5C4-43E4-AFE3-B7D8FAB7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838450"/>
            <a:ext cx="1504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169F4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4169F4"/>
                </a:solidFill>
                <a:latin typeface="Aptos Display"/>
                <a:ea typeface="Aptos Display"/>
                <a:cs typeface="Aptos Display"/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97658C-226C-4958-A2CE-61E253D2C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257550"/>
            <a:ext cx="1504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Python SDK tests covering passport UX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E02090-370B-40A2-9A66-0F6DD2A9E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86050"/>
            <a:ext cx="2190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6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FC08B1-159C-435A-91F5-3344B096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38450"/>
            <a:ext cx="1885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0A66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0A66A"/>
                </a:solidFill>
                <a:latin typeface="Aptos Display"/>
                <a:ea typeface="Aptos Display"/>
                <a:cs typeface="Aptos Display"/>
              </a:rPr>
              <a:t>PASS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1954DE-24B9-4F82-8A0E-DA7D44BF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57550"/>
            <a:ext cx="1885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GitHub AIP Validation for passport implementation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AD2E22-BCD7-4B3D-98BC-C8A29E92F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514600"/>
            <a:ext cx="15621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DD"/>
          </a:solidFill>
          <a:ln xmlns:a="http://schemas.openxmlformats.org/drawingml/2006/main" w="9525">
            <a:solidFill>
              <a:srgbClr val="F5D98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A6CBBD-7DA4-4FC5-BD0B-6D496C3D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7241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2A90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2A900"/>
                </a:solidFill>
                <a:latin typeface="Aptos"/>
                <a:ea typeface="Aptos"/>
                <a:cs typeface="Aptos"/>
              </a:rPr>
              <a:t>CURRENT TRL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B35B57-A8F3-4215-A641-2826CFAA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028950"/>
            <a:ext cx="1047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A102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A1020"/>
                </a:solidFill>
                <a:latin typeface="Aptos Display"/>
                <a:ea typeface="Aptos Display"/>
                <a:cs typeface="Aptos Display"/>
              </a:rPr>
              <a:t>TRL-4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96867C-44AF-4AAC-B3D0-20FB7DB65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486150"/>
            <a:ext cx="106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A102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0A1020"/>
                </a:solidFill>
                <a:latin typeface="Aptos"/>
                <a:ea typeface="Aptos"/>
                <a:cs typeface="Aptos"/>
              </a:rPr>
              <a:t>Pilot evidence is next.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72451F-BDB9-4171-8197-24C488A5B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624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EVIDENCE LADDER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E1537B-D24A-4F66-94EE-EC46384B7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529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9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61DF9C-6F88-421E-9DE4-69ADFE55B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86300"/>
            <a:ext cx="657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Schema: AgentPassport v1 fields and validation helpers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E987FD-0A13-48F1-A426-36AF1365E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149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D9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104BC0-C7C9-41A2-A4EA-6D9945D6D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48250"/>
            <a:ext cx="657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Service: /v1/passports/issue and /verify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FC724D-2E71-421F-A2F8-2082283C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768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9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400DDE-4DC4-48AB-B4F2-3BD09968F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10200"/>
            <a:ext cx="657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Verifier: airon-passport offline PASS / TOXIC audit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429C1F-342C-46D6-9AB8-2FAE0CA1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388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2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2F77A7-8BF1-450D-B9A2-D2BD6C545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72150"/>
            <a:ext cx="657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Pilot: Colab notebook exports pilot_results.json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D6C4D8C-7D71-4717-83B6-BEAAEF4A1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10300"/>
            <a:ext cx="36671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D9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9851804-584E-4A46-BBF3-A8086D440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8" y="6210300"/>
            <a:ext cx="36671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9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D2FD6FD-0A0C-443E-846A-61DFF7BC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6210300"/>
            <a:ext cx="36671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9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09BB447-1FD3-42B6-A6B0-02FD5A993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913" y="6210300"/>
            <a:ext cx="36671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2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3793B47-34B9-44CE-83F1-6A3CB6BF7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4198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91A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91A3"/>
                </a:solidFill>
                <a:latin typeface="Aptos"/>
                <a:ea typeface="Aptos"/>
                <a:cs typeface="Aptos"/>
              </a:rPr>
              <a:t>SYNTRIASS | AIRON Trust Infrastructure | Confidential pilot deck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784A458-E346-4AF7-AEFF-D2A979A8F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A91A3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8A91A3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2751157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9F6265-306E-4DB2-9395-B7CA33F2E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3541DD-3F8E-4132-A51E-E1F0514AA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"/>
            <a:ext cx="9048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D9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625C43-699C-4513-B1D9-0B10D4410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3" y="466725"/>
            <a:ext cx="9048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9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A7FF91-D5FA-49C7-8BF2-4378A7430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66725"/>
            <a:ext cx="9048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9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491E1D-123A-49F0-B750-2CBFDD5AC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8" y="466725"/>
            <a:ext cx="9048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2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046701-6052-4812-9E98-EDAD71B8B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52EE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52EE8"/>
                </a:solidFill>
                <a:latin typeface="Aptos"/>
                <a:ea typeface="Aptos"/>
                <a:cs typeface="Aptos"/>
              </a:rPr>
              <a:t>MARKET WEDGE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BEF54C-A7AB-4ACB-A78D-10DD27F23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8001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A1020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A1020"/>
                </a:solidFill>
                <a:latin typeface="Aptos Display"/>
                <a:ea typeface="Aptos Display"/>
                <a:cs typeface="Aptos Display"/>
              </a:rPr>
              <a:t>Regulated AI needs a trust gateway before pilots become production.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8B3190-E186-42B8-B9CF-072AC7D92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A102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A1020"/>
                </a:solidFill>
                <a:latin typeface="Aptos"/>
                <a:ea typeface="Aptos"/>
                <a:cs typeface="Aptos"/>
              </a:rPr>
              <a:t>AIRON starts where the cost of anonymous autonomous action is highest: financial workflows, critical operations, and defense autonomy.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6B939E-8021-400B-9653-AC10F8B82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30670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3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0F7197-3EB8-4FE1-AAD8-700492C77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3067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D9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994D04-5314-4926-B2FD-5D342DD80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337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9D9F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9D9F2"/>
                </a:solidFill>
                <a:latin typeface="Aptos"/>
                <a:ea typeface="Aptos"/>
                <a:cs typeface="Aptos"/>
              </a:rPr>
              <a:t>WEDGE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264902-9A03-430C-A752-D3E4500E1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5755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A1020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0A1020"/>
                </a:solidFill>
                <a:latin typeface="Aptos Display"/>
                <a:ea typeface="Aptos Display"/>
                <a:cs typeface="Aptos Display"/>
              </a:rPr>
              <a:t>BFSI and fintech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D284B9-78C1-407E-9F1E-8E403936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14750"/>
            <a:ext cx="2400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A102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A1020"/>
                </a:solidFill>
                <a:latin typeface="Aptos"/>
                <a:ea typeface="Aptos"/>
                <a:cs typeface="Aptos"/>
              </a:rPr>
              <a:t>AI agents reading invoices, reconciling ledgers, moving cases through payment operations.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376A5F-27AE-40B0-9361-E044E77E1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29150"/>
            <a:ext cx="2400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Trigger: auditability before agentic automation scales.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9F145C-A89A-4362-AEE1-E8E7C5371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86050"/>
            <a:ext cx="30670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3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17948E-A6A9-4C83-B53C-C46C2F8F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86050"/>
            <a:ext cx="3067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9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0E10D6-E14B-41C8-ADFE-4D072B9CD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9337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A49F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A49F2"/>
                </a:solidFill>
                <a:latin typeface="Aptos"/>
                <a:ea typeface="Aptos"/>
                <a:cs typeface="Aptos"/>
              </a:rPr>
              <a:t>WEDGE 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BEFC4C-3A0F-4BC8-B3DC-0BAD14C1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5755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A1020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0A1020"/>
                </a:solidFill>
                <a:latin typeface="Aptos Display"/>
                <a:ea typeface="Aptos Display"/>
                <a:cs typeface="Aptos Display"/>
              </a:rPr>
              <a:t>Enterprise AI teams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2678DC-ACCA-4A05-81D2-1F0B9CEAD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714750"/>
            <a:ext cx="2400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A102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A1020"/>
                </a:solidFill>
                <a:latin typeface="Aptos"/>
                <a:ea typeface="Aptos"/>
                <a:cs typeface="Aptos"/>
              </a:rPr>
              <a:t>LangChain and notebook-based agents that need portable credentials and tamper-evident tool access.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ADF1C1-C5BF-473E-A4F0-CFC35463C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629150"/>
            <a:ext cx="2400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Trigger: internal controls for autonomous workflows.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A3779A-37D8-41E0-A60C-75C4C9227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686050"/>
            <a:ext cx="30670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3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28029F-3594-4B4F-B3DD-D4D7BEB9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686050"/>
            <a:ext cx="3067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2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DECA09-0285-4C03-93D2-67688B986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337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52EE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52EE8"/>
                </a:solidFill>
                <a:latin typeface="Aptos"/>
                <a:ea typeface="Aptos"/>
                <a:cs typeface="Aptos"/>
              </a:rPr>
              <a:t>WEDGE 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1E86E2-8EE9-417D-953C-EA0E0C572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5755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A1020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0A1020"/>
                </a:solidFill>
                <a:latin typeface="Aptos Display"/>
                <a:ea typeface="Aptos Display"/>
                <a:cs typeface="Aptos Display"/>
              </a:rPr>
              <a:t>Defense / critical infra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777B23-9634-4A6F-8509-EDA32A92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14750"/>
            <a:ext cx="2400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A102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A1020"/>
                </a:solidFill>
                <a:latin typeface="Aptos"/>
                <a:ea typeface="Aptos"/>
                <a:cs typeface="Aptos"/>
              </a:rPr>
              <a:t>Autonomous systems requiring a black-box record of authority, runtime, and allowed action.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72EBCF-CBCA-40D5-B822-C3EB341A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29150"/>
            <a:ext cx="2400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Trigger: mission accountability and fail-closed behavior.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FBFDC1-87F9-4F6E-9356-CEE710811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524500"/>
            <a:ext cx="704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DDE2E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241E22-D1ED-4392-B5A9-3981746BC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52450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9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DCB12D-02FD-43E7-AD08-489A1B25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619750"/>
            <a:ext cx="6743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10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A1020"/>
                </a:solidFill>
                <a:latin typeface="Aptos"/>
                <a:ea typeface="Aptos"/>
                <a:cs typeface="Aptos"/>
              </a:rPr>
              <a:t>Pilot wedge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AD8E65-309E-4577-B830-AAFFCD5AF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867400"/>
            <a:ext cx="6743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Start with Agent Passport SDK and Colab evidence. Expand to AIRON Trust Gateway once workflow authority is proven.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3F6515-A70A-4141-910C-574A7ADCF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10300"/>
            <a:ext cx="36671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D9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5F9F88-F4AA-4539-B565-28850C10F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8" y="6210300"/>
            <a:ext cx="36671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9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5BD4E55-C03A-4242-ABBA-5AE385732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6210300"/>
            <a:ext cx="36671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9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0F51E52-0687-4617-84D2-0E972333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913" y="6210300"/>
            <a:ext cx="36671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2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19FA3C2-125E-46A4-A6F1-64FA3FFF8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4198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91A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91A3"/>
                </a:solidFill>
                <a:latin typeface="Aptos"/>
                <a:ea typeface="Aptos"/>
                <a:cs typeface="Aptos"/>
              </a:rPr>
              <a:t>SYNTRIASS | AIRON Trust Infrastructure | Confidential pilot deck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7DCC716-8F90-4AD2-A363-45DBAE0F7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A91A3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8A91A3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811813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0C7CB5-7736-4401-8D49-44EF43B98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88DA7D-0539-4EE8-B8C5-BA61F28D2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"/>
            <a:ext cx="9048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D9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91EFF9-6175-4C34-992E-BA87AA3BE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3" y="466725"/>
            <a:ext cx="9048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9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9FF1EF-1990-4463-ABFF-F40721CA4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66725"/>
            <a:ext cx="9048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9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5DC4A8-2C65-4064-80B2-4C17AE5AB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8" y="466725"/>
            <a:ext cx="9048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2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6B2E82-BB9B-4BB7-AB56-FE2A3873B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169F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169F4"/>
                </a:solidFill>
                <a:latin typeface="Aptos"/>
                <a:ea typeface="Aptos"/>
                <a:cs typeface="Aptos"/>
              </a:rPr>
              <a:t>BUSINESS 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E41A42-14E8-4C60-A5F5-6800F5653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8286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A1020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A1020"/>
                </a:solidFill>
                <a:latin typeface="Aptos Display"/>
                <a:ea typeface="Aptos Display"/>
                <a:cs typeface="Aptos Display"/>
              </a:rPr>
              <a:t>Land with passport pilots; expand into trust gateway infrastructure.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A0006F-4948-45C6-9873-990283518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43100"/>
            <a:ext cx="7620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A102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A1020"/>
                </a:solidFill>
                <a:latin typeface="Aptos"/>
                <a:ea typeface="Aptos"/>
                <a:cs typeface="Aptos"/>
              </a:rPr>
              <a:t>The product ladder starts with low-friction developer adoption and expands toward regulated infrastructure contracts.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C9FB69-E84F-453C-BFA6-3B673083F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0400"/>
            <a:ext cx="20955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9F86E9-3048-40F3-BC1C-116FE078A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0400"/>
            <a:ext cx="2095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D9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10DB93-28C2-4E33-9602-93E23F9FE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290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9D9F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9D9F2"/>
                </a:solidFill>
                <a:latin typeface="Aptos"/>
                <a:ea typeface="Aptos"/>
                <a:cs typeface="Aptos"/>
              </a:rPr>
              <a:t>STAGE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FA9AA1-C12A-4D81-9B00-462E6D54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14750"/>
            <a:ext cx="171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A1020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A1020"/>
                </a:solidFill>
                <a:latin typeface="Aptos Display"/>
                <a:ea typeface="Aptos Display"/>
                <a:cs typeface="Aptos Display"/>
              </a:rPr>
              <a:t>Open SDK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1C1807-633C-43E5-8C2B-BF5CD4DD2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91000"/>
            <a:ext cx="1695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A102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0A1020"/>
                </a:solidFill>
                <a:latin typeface="Aptos"/>
                <a:ea typeface="Aptos"/>
                <a:cs typeface="Aptos"/>
              </a:rPr>
              <a:t>Python package, Colab notebook, LangChain / ML adapters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78A37E-22BC-4739-9588-9B585AFE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00600"/>
            <a:ext cx="1695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9D9F2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9D9F2"/>
                </a:solidFill>
                <a:latin typeface="Aptos"/>
                <a:ea typeface="Aptos"/>
                <a:cs typeface="Aptos"/>
              </a:rPr>
              <a:t>Developer traction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5A832B-2D89-4322-AF2A-C6080C2B2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200400"/>
            <a:ext cx="20955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A88355-2CE6-46EC-AC1D-F3238C282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200400"/>
            <a:ext cx="2095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9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08D8BB-0DC1-4892-B3CE-9946105A3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4290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169F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169F4"/>
                </a:solidFill>
                <a:latin typeface="Aptos"/>
                <a:ea typeface="Aptos"/>
                <a:cs typeface="Aptos"/>
              </a:rPr>
              <a:t>STAGE 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477F9B-7264-4F81-9FE2-619A85819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714750"/>
            <a:ext cx="171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A1020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A1020"/>
                </a:solidFill>
                <a:latin typeface="Aptos Display"/>
                <a:ea typeface="Aptos Display"/>
                <a:cs typeface="Aptos Display"/>
              </a:rPr>
              <a:t>Pilot license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0EA2BA-6D99-4F1D-9769-CA4C25BA9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191000"/>
            <a:ext cx="1695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A102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0A1020"/>
                </a:solidFill>
                <a:latin typeface="Aptos"/>
                <a:ea typeface="Aptos"/>
                <a:cs typeface="Aptos"/>
              </a:rPr>
              <a:t>Private AIP service endpoint, audit exports, support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32AFB9-E6C4-4D1E-8369-0509CB563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800600"/>
            <a:ext cx="1695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4169F4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4169F4"/>
                </a:solidFill>
                <a:latin typeface="Aptos"/>
                <a:ea typeface="Aptos"/>
                <a:cs typeface="Aptos"/>
              </a:rPr>
              <a:t>Design partner validation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B064AF-1626-477E-8BE2-C49C9C4C8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00400"/>
            <a:ext cx="20955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F8179F-8A00-4B6B-A858-9B5C4CF8E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00400"/>
            <a:ext cx="2095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9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A97AA6-85A3-4AA4-98AC-83BAF2DF5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290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A49F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A49F2"/>
                </a:solidFill>
                <a:latin typeface="Aptos"/>
                <a:ea typeface="Aptos"/>
                <a:cs typeface="Aptos"/>
              </a:rPr>
              <a:t>STAGE 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4C04A2-2FE9-4891-B0C9-092FE081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14750"/>
            <a:ext cx="171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A1020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A1020"/>
                </a:solidFill>
                <a:latin typeface="Aptos Display"/>
                <a:ea typeface="Aptos Display"/>
                <a:cs typeface="Aptos Display"/>
              </a:rPr>
              <a:t>Enterprise control plane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823920-F7BE-433E-9E7B-6714DDED8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91000"/>
            <a:ext cx="1695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A102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0A1020"/>
                </a:solidFill>
                <a:latin typeface="Aptos"/>
                <a:ea typeface="Aptos"/>
                <a:cs typeface="Aptos"/>
              </a:rPr>
              <a:t>Registry, revocation, EvidencePacket vault, admin workflows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47BE28-EF03-429D-90E9-5FD1F9653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800600"/>
            <a:ext cx="1695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7A49F2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7A49F2"/>
                </a:solidFill>
                <a:latin typeface="Aptos"/>
                <a:ea typeface="Aptos"/>
                <a:cs typeface="Aptos"/>
              </a:rPr>
              <a:t>Annual platform contract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C0346E-7D86-4693-8D3B-A2C241223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00400"/>
            <a:ext cx="20955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512F24-4DBE-4F69-BBD1-0C1DC54C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00400"/>
            <a:ext cx="2095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2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13EE1D-124D-42FF-9F92-C83A315FA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4290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52EE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52EE8"/>
                </a:solidFill>
                <a:latin typeface="Aptos"/>
                <a:ea typeface="Aptos"/>
                <a:cs typeface="Aptos"/>
              </a:rPr>
              <a:t>STAGE 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FEC900-852A-466A-B234-2D729A371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714750"/>
            <a:ext cx="171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A1020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A1020"/>
                </a:solidFill>
                <a:latin typeface="Aptos Display"/>
                <a:ea typeface="Aptos Display"/>
                <a:cs typeface="Aptos Display"/>
              </a:rPr>
              <a:t>Trust gateway nodes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B6AE23-DC42-40BA-AB44-475019B49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191000"/>
            <a:ext cx="1695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A102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0A1020"/>
                </a:solidFill>
                <a:latin typeface="Aptos"/>
                <a:ea typeface="Aptos"/>
                <a:cs typeface="Aptos"/>
              </a:rPr>
              <a:t>AEGIS enforcement for high-value network paths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3DC63F-61F4-4FAF-B59D-E2144CFD1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800600"/>
            <a:ext cx="1695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C52EE8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C52EE8"/>
                </a:solidFill>
                <a:latin typeface="Aptos"/>
                <a:ea typeface="Aptos"/>
                <a:cs typeface="Aptos"/>
              </a:rPr>
              <a:t>Capacity-priced infrastructure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4B46698-0B53-4296-AF5F-C5E65B11D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61975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Pricing can be finalized after the first design partner pilots; the immediate funding objective is validation, not premature scale claims.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98A0F47-632D-4BEA-A027-08BA5660F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10300"/>
            <a:ext cx="36671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D9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D3C906-B479-4A97-AD2F-5F618066A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8" y="6210300"/>
            <a:ext cx="36671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9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67C5D26-7915-4E61-B55E-FE5102E30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6210300"/>
            <a:ext cx="36671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9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C9E26D8-9A8F-42AE-A86A-B53CA4679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913" y="6210300"/>
            <a:ext cx="36671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2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A01B0E5-6BE0-496B-930B-49B206129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4198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91A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91A3"/>
                </a:solidFill>
                <a:latin typeface="Aptos"/>
                <a:ea typeface="Aptos"/>
                <a:cs typeface="Aptos"/>
              </a:rPr>
              <a:t>SYNTRIASS | AIRON Trust Infrastructure | Confidential pilot deck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EFAB28B-20B9-4A33-AF63-30D2A32DD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A91A3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8A91A3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027609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944E36-137D-482F-ABB7-D8C7102A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ADBFDE-CAB0-4729-B782-B675C854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"/>
            <a:ext cx="9048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D9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612048-3F36-4FE2-874D-8AD7007A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3" y="466725"/>
            <a:ext cx="9048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9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59B69F-C59B-4229-8198-110E37866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66725"/>
            <a:ext cx="9048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9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41D0C7-7019-4A3A-9ED0-C62A506AE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8" y="466725"/>
            <a:ext cx="9048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2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D94363-8F4F-4281-A79A-162EDBCBB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2A90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2A900"/>
                </a:solidFill>
                <a:latin typeface="Aptos"/>
                <a:ea typeface="Aptos"/>
                <a:cs typeface="Aptos"/>
              </a:rPr>
              <a:t>ROADMAP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057EF7-EC1D-4D59-A942-3F7418621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8096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A1020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A1020"/>
                </a:solidFill>
                <a:latin typeface="Aptos Display"/>
                <a:ea typeface="Aptos Display"/>
                <a:cs typeface="Aptos Display"/>
              </a:rPr>
              <a:t>Funding converts lab truth into relevant-environment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380483-8A6C-4076-B59C-035EF677A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7810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A102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A1020"/>
                </a:solidFill>
                <a:latin typeface="Aptos"/>
                <a:ea typeface="Aptos"/>
                <a:cs typeface="Aptos"/>
              </a:rPr>
              <a:t>The next gate is not more claims; it is controlled pilot evidence from real agent workflows and realistic infrastructure validation.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785077-2733-4B3C-A689-0B738CFB2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29000"/>
            <a:ext cx="8858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20B43A-A517-4D8B-A207-6C4657E8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861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D9F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58D165-D6B8-453D-A89A-D3A2177E4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52850"/>
            <a:ext cx="21526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C5924C-3D38-4B04-B7BE-8E6EC0B45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62400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9D9F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9D9F2"/>
                </a:solidFill>
                <a:latin typeface="Aptos"/>
                <a:ea typeface="Aptos"/>
                <a:cs typeface="Aptos"/>
              </a:rPr>
              <a:t>NOW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9FFEB0-132E-4F39-B846-C5CF9255B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102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A1020"/>
                </a:solidFill>
                <a:latin typeface="Aptos Display"/>
                <a:ea typeface="Aptos Display"/>
                <a:cs typeface="Aptos Display"/>
              </a:rPr>
              <a:t>TRL-4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5A435F-3901-40CF-8656-E1A1C59C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0100"/>
            <a:ext cx="1752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Repo + CI validation, service endpoints, SDK, Colab harness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524C82-964A-4930-A414-6AA9656CF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2861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9F4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9321F0-D889-4AD0-A4C3-77C2C35C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52850"/>
            <a:ext cx="21526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681C46-F2DD-4E00-92DE-381FD0FD1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962400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169F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169F4"/>
                </a:solidFill>
                <a:latin typeface="Aptos"/>
                <a:ea typeface="Aptos"/>
                <a:cs typeface="Aptos"/>
              </a:rPr>
              <a:t>30 DAYS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D3674A-35A8-48BF-86A1-9C8F6FF02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2672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102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A1020"/>
                </a:solidFill>
                <a:latin typeface="Aptos Display"/>
                <a:ea typeface="Aptos Display"/>
                <a:cs typeface="Aptos Display"/>
              </a:rPr>
              <a:t>TRL-5 AIP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1A87A8-25E7-4F6A-9076-CC4F022D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610100"/>
            <a:ext cx="1752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External notebook pilots, sanitized results, design partner pack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015361-777B-4103-9597-E7CA2A93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861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9F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7E2BDC-B61C-4219-9EE7-85A81EAD2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52850"/>
            <a:ext cx="21526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96ED42-31EE-4CE9-AC11-723B9C248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62400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A49F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A49F2"/>
                </a:solidFill>
                <a:latin typeface="Aptos"/>
                <a:ea typeface="Aptos"/>
                <a:cs typeface="Aptos"/>
              </a:rPr>
              <a:t>90 DAYS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E832C6-8E31-46B8-BB21-82128218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672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102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A1020"/>
                </a:solidFill>
                <a:latin typeface="Aptos Display"/>
                <a:ea typeface="Aptos Display"/>
                <a:cs typeface="Aptos Display"/>
              </a:rPr>
              <a:t>Hybrid PQC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A7A13C-6F8A-4149-98B6-D0AC979CC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10100"/>
            <a:ext cx="1752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ML-DSA keyring, crypto agility, stronger CBOM evidence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3FB3C9-F8B3-4995-8658-AE529167C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2861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2EE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1E3B3C-30ED-4A56-ACA9-16B7D9F81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752850"/>
            <a:ext cx="21526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259D4D-DF1C-41BA-85C7-B9366827C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962400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52EE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52EE8"/>
                </a:solidFill>
                <a:latin typeface="Aptos"/>
                <a:ea typeface="Aptos"/>
                <a:cs typeface="Aptos"/>
              </a:rPr>
              <a:t>180 DAYS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683C7E-5E28-4165-8ADD-43D63967F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2672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102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A1020"/>
                </a:solidFill>
                <a:latin typeface="Aptos Display"/>
                <a:ea typeface="Aptos Display"/>
                <a:cs typeface="Aptos Display"/>
              </a:rPr>
              <a:t>AEGIS lab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25C8F0-42F1-4B32-BC6C-91666060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610100"/>
            <a:ext cx="1752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Bare-metal XDP testbed, latency histograms, pilot dossier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C563AA-8D63-4839-8F90-BDBEAB1A3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8165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DD"/>
          </a:solidFill>
          <a:ln xmlns:a="http://schemas.openxmlformats.org/drawingml/2006/main" w="9525">
            <a:solidFill>
              <a:srgbClr val="F3DA9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C764BC-3F32-4F72-8721-08162F3B6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734050"/>
            <a:ext cx="952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A102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A1020"/>
                </a:solidFill>
                <a:latin typeface="Aptos"/>
                <a:ea typeface="Aptos"/>
                <a:cs typeface="Aptos"/>
              </a:rPr>
              <a:t>Use of funds: deployment, pilot support, ML-DSA implementation, validation automation, and bare-metal AEGIS test infrastructure.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4E36226-5D93-49FD-9693-78022037A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10300"/>
            <a:ext cx="36671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D9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E8F4581-FD84-4E8C-98FF-63453A68B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8" y="6210300"/>
            <a:ext cx="36671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9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701B384-9E9C-4A1C-A943-30DEF2347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6210300"/>
            <a:ext cx="36671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9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2383F9A-6FBE-485B-AB73-C2DF48CD5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913" y="6210300"/>
            <a:ext cx="36671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2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E7308F3-B242-4B34-8E3C-6119ED466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4198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91A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91A3"/>
                </a:solidFill>
                <a:latin typeface="Aptos"/>
                <a:ea typeface="Aptos"/>
                <a:cs typeface="Aptos"/>
              </a:rPr>
              <a:t>SYNTRIASS | AIRON Trust Infrastructure | Confidential pilot deck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48030D6-E922-49B5-A766-41A9CC9F6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A91A3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8A91A3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8279019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712F76-97EE-4854-8EBE-6A8659E4D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5EC7B3-7E2C-4C69-96DB-0826F08F3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"/>
            <a:ext cx="9048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D9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A44BE9-ECC7-4040-9C96-4F13EDB6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3" y="466725"/>
            <a:ext cx="9048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9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B5E75B-A78F-4F23-903D-636EAE077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66725"/>
            <a:ext cx="9048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9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6B14E6-2B64-4720-87FC-9FAC3819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8" y="466725"/>
            <a:ext cx="9048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2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BDD934-26DB-4CD6-90FB-3A82673F1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52EE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52EE8"/>
                </a:solidFill>
                <a:latin typeface="Aptos"/>
                <a:ea typeface="Aptos"/>
                <a:cs typeface="Aptos"/>
              </a:rPr>
              <a:t>USP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33DB5E-B02F-4AEB-A0D5-13B34D6B9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8858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A1020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0A1020"/>
                </a:solidFill>
                <a:latin typeface="Aptos Display"/>
                <a:ea typeface="Aptos Display"/>
                <a:cs typeface="Aptos Display"/>
              </a:rPr>
              <a:t>AIRON is the passport layer for agents, not just IAM, workload ID, or observability.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F2A967-9CBD-464A-9A90-7C4939DD0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866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A102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A1020"/>
                </a:solidFill>
                <a:latin typeface="Aptos"/>
                <a:ea typeface="Aptos"/>
                <a:cs typeface="Aptos"/>
              </a:rPr>
              <a:t>The wedge is not replacing established identity stacks. The wedge is the missing portable credential that proves an agent's authority, scope, lineage, and revocation state at the point of action.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7D24AC-3AB1-4507-B4FD-532C5D32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24003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24AC06-67FF-4943-9944-128FE69A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2400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9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986241-BF31-4A43-A83C-EB28CDC5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1020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A1020"/>
                </a:solidFill>
                <a:latin typeface="Aptos Display"/>
                <a:ea typeface="Aptos Display"/>
                <a:cs typeface="Aptos Display"/>
              </a:rPr>
              <a:t>Okta / IAM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870C9C-ABB4-487A-AA74-4D988FDA9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90900"/>
            <a:ext cx="2019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Govern users, apps, NHIs, and enterprise access.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77E82C-965C-4C8A-9677-B8A3285BF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2019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169F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169F4"/>
                </a:solidFill>
                <a:latin typeface="Aptos"/>
                <a:ea typeface="Aptos"/>
                <a:cs typeface="Aptos"/>
              </a:rPr>
              <a:t>Adds passport proof.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A3B62C-1908-4131-926A-AEB49CEF8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914650"/>
            <a:ext cx="24003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4EC7DC-E724-436E-835E-57B046ADC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914650"/>
            <a:ext cx="2400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D9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B693FF-9B49-49B7-85F2-881A20205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051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1020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A1020"/>
                </a:solidFill>
                <a:latin typeface="Aptos Display"/>
                <a:ea typeface="Aptos Display"/>
                <a:cs typeface="Aptos Display"/>
              </a:rPr>
              <a:t>SPIFFE / SPIRE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EAD7AD-ED91-4DB1-9E15-91B613266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390900"/>
            <a:ext cx="2019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Issue workload identities and SVIDs for services.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AF7010-71ED-4A4F-8FCA-3C22B1EFA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0000"/>
            <a:ext cx="2019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9D9F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9D9F2"/>
                </a:solidFill>
                <a:latin typeface="Aptos"/>
                <a:ea typeface="Aptos"/>
                <a:cs typeface="Aptos"/>
              </a:rPr>
              <a:t>Adds authority lineage.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B19E07-0E85-43B7-8115-2547ABD5D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24003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73F26B-E59B-43D6-8857-2273E63B2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2400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9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47F091-05BF-4DF6-B76B-3C1566EE6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196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1020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A1020"/>
                </a:solidFill>
                <a:latin typeface="Aptos Display"/>
                <a:ea typeface="Aptos Display"/>
                <a:cs typeface="Aptos Display"/>
              </a:rPr>
              <a:t>Maxim AI / evals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47ACF9-449E-4AFC-9934-8CBE6013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2019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Evaluate, simulate, and observe agent behavior.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3D05B3-BC7B-4775-8EFA-0FAFA993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24450"/>
            <a:ext cx="2019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A49F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A49F2"/>
                </a:solidFill>
                <a:latin typeface="Aptos"/>
                <a:ea typeface="Aptos"/>
                <a:cs typeface="Aptos"/>
              </a:rPr>
              <a:t>Adds verified authority.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4E1821-2DFC-416A-97CB-4738398F3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229100"/>
            <a:ext cx="24003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B326DE-E85F-4CB1-9F74-6A2E87DA1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229100"/>
            <a:ext cx="2400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2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F4027E-C5A1-498D-9B58-7242C466F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4196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1020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A1020"/>
                </a:solidFill>
                <a:latin typeface="Aptos Display"/>
                <a:ea typeface="Aptos Display"/>
                <a:cs typeface="Aptos Display"/>
              </a:rPr>
              <a:t>API gateways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B395E4-7F42-4517-A6FE-F70A40613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705350"/>
            <a:ext cx="2019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Route APIs and enforce request-level access.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C85C7B-B5E7-45C6-8622-CE1559D95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124450"/>
            <a:ext cx="2019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52EE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52EE8"/>
                </a:solidFill>
                <a:latin typeface="Aptos"/>
                <a:ea typeface="Aptos"/>
                <a:cs typeface="Aptos"/>
              </a:rPr>
              <a:t>Adds audit evidence.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DF076F-62F9-41C1-98D9-2C0E59386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95600"/>
            <a:ext cx="476250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02B"/>
          </a:solidFill>
          <a:ln xmlns:a="http://schemas.openxmlformats.org/drawingml/2006/main" w="9525">
            <a:solidFill>
              <a:srgbClr val="07002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50D8B2-BD3A-48DE-891C-74E4EE902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95600"/>
            <a:ext cx="1200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D9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FF5B6F-09B5-49B4-859C-3BC928B78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895600"/>
            <a:ext cx="1200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9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68A684-7C8C-4AB3-AE7A-223B14916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895600"/>
            <a:ext cx="1200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9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9694ED-EAB4-420E-AC94-A2D082BDE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895600"/>
            <a:ext cx="1200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2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30D70CF-F01A-4920-956F-DC66F2575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143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9D9F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9D9F2"/>
                </a:solidFill>
                <a:latin typeface="Aptos"/>
                <a:ea typeface="Aptos"/>
                <a:cs typeface="Aptos"/>
              </a:rPr>
              <a:t>AIRON DIFFERENCE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EE11243-BFC6-4A65-B104-DF35A2A38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429000"/>
            <a:ext cx="3810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Portable credential, cryptographic finality, enforceable boundary.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C69BF7B-7540-4980-9F7D-D6EB111FD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3910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D9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B4D8CDC-6659-4B39-96C2-3456EE09C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343400"/>
            <a:ext cx="3657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DCE4F5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DCE4F5"/>
                </a:solidFill>
                <a:latin typeface="Aptos"/>
                <a:ea typeface="Aptos"/>
                <a:cs typeface="Aptos"/>
              </a:rPr>
              <a:t>Travels with LangChain, notebooks, APIs, and audits.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6FFDFF7-AB91-4AB9-97D4-A7BE31D0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6291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9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0344847-B2E0-47AE-B0B2-9218E36ED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581525"/>
            <a:ext cx="3657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DCE4F5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DCE4F5"/>
                </a:solidFill>
                <a:latin typeface="Aptos"/>
                <a:ea typeface="Aptos"/>
                <a:cs typeface="Aptos"/>
              </a:rPr>
              <a:t>Binds human authority to agent action.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DE15BDF-D027-4CAC-9997-38B204AA1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8672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9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1A029B3-AF79-4E9F-8ED3-2A338DC4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819650"/>
            <a:ext cx="3657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DCE4F5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DCE4F5"/>
                </a:solidFill>
                <a:latin typeface="Aptos"/>
                <a:ea typeface="Aptos"/>
                <a:cs typeface="Aptos"/>
              </a:rPr>
              <a:t>Limits scope with lattice, expiry, and revocation.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09DD16F-8C90-45A2-93F5-B2F04DFA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105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2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494DA34-3966-4741-9CA5-44B26703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057775"/>
            <a:ext cx="3657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DCE4F5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DCE4F5"/>
                </a:solidFill>
                <a:latin typeface="Aptos"/>
                <a:ea typeface="Aptos"/>
                <a:cs typeface="Aptos"/>
              </a:rPr>
              <a:t>Verifies offline as PASS or TOXIC.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5AABB93-D68F-4E84-8853-D85541ABC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3435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E7D77F3-28D5-40AB-ADE9-9C36FA4A5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295900"/>
            <a:ext cx="3657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DCE4F5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DCE4F5"/>
                </a:solidFill>
                <a:latin typeface="Aptos"/>
                <a:ea typeface="Aptos"/>
                <a:cs typeface="Aptos"/>
              </a:rPr>
              <a:t>Connects to AEGIS for network containment.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2A72120-8FBE-4E03-A0D5-AAED6D0E5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86450"/>
            <a:ext cx="9944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D9E4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DE56CA2-4CE0-4F5A-BBFD-2D0BB98A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972175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0A1020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0A1020"/>
                </a:solidFill>
                <a:latin typeface="Aptos"/>
                <a:ea typeface="Aptos"/>
                <a:cs typeface="Aptos"/>
              </a:rPr>
              <a:t>Positioning: works beside Okta and SPIFFE; competes where agent-specific proof, revocation, and forensic accountability are mandatory.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2C63C69-AC70-4C72-8D06-FE424FEF1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10300"/>
            <a:ext cx="36671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D9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0CDA9EF-76FF-44F4-B1C3-4F417F9F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8" y="6210300"/>
            <a:ext cx="36671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9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2BC321F-E318-4A0C-B7B6-000059E4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6210300"/>
            <a:ext cx="36671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9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B4676BC-5B23-4AA0-BD32-8E4F385E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913" y="6210300"/>
            <a:ext cx="36671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2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FB8B0F0-B02A-42EB-8CEA-5352BB4DB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4198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91A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91A3"/>
                </a:solidFill>
                <a:latin typeface="Aptos"/>
                <a:ea typeface="Aptos"/>
                <a:cs typeface="Aptos"/>
              </a:rPr>
              <a:t>SYNTRIASS | AIRON Trust Infrastructure | Confidential pilot deck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0EDEC54-0E49-46FD-92E1-1C158422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A91A3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8A91A3"/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5638388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EECB99-8E2A-4F8D-B958-A8B956121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1D60BA-DDD2-499B-B408-395F48C3E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0575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D9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9AC5B9-29BE-409A-AF71-3DE43166A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30575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9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D7D344-E8CB-4419-B481-02025DB9F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30575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9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2C4430-972D-4138-9875-6917CFBF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30575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2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9dfec8b9f843c0"/>
          <a:stretch xmlns:a="http://schemas.openxmlformats.org/drawingml/2006/main"/>
        </p:blipFill>
        <p:spPr>
          <a:xfrm xmlns:a="http://schemas.openxmlformats.org/drawingml/2006/main">
            <a:off x="8953500" y="609600"/>
            <a:ext cx="1524000" cy="1524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DC1300-B491-47D0-94E0-4A5735935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9048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D9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677C77-96EA-4144-9A2E-CD5C8022D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3" y="561975"/>
            <a:ext cx="9048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9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B4B945-D165-435C-970F-2AEE7103E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61975"/>
            <a:ext cx="9048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9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5A4736-8013-4913-9557-7177CEA8B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8" y="561975"/>
            <a:ext cx="9048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2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5781AE-0AA8-4260-8467-208353DB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53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9D9F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9D9F2"/>
                </a:solidFill>
                <a:latin typeface="Aptos"/>
                <a:ea typeface="Aptos"/>
                <a:cs typeface="Aptos"/>
              </a:rPr>
              <a:t>ASK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EB06FE-9CEE-4C8F-8FDD-5C9863CFB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7239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Back the Agent Passport pilot and the AIRON Trust Gateway roadmap.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55C3E6-F3ED-4026-9A38-4ED7C3E6D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723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8DEE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8DEEC"/>
                </a:solidFill>
                <a:latin typeface="Aptos"/>
                <a:ea typeface="Aptos"/>
                <a:cs typeface="Aptos"/>
              </a:rPr>
              <a:t>We are seeking RDI/TDB support and design partners to validate AIRON in relevant environments: agent workflows first, gateway infrastructure next.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618220-F709-4273-B307-778DAB5E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33800"/>
            <a:ext cx="6762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0A43"/>
          </a:solidFill>
          <a:ln xmlns:a="http://schemas.openxmlformats.org/drawingml/2006/main" w="9525">
            <a:solidFill>
              <a:srgbClr val="2A236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040A6C-2872-4777-9029-B31DD5291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67150"/>
            <a:ext cx="28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9D9F2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9D9F2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1B5826-942F-4B0D-BD0D-63905F81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290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Design partners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D25021-F869-4AF5-B0FA-5E01F1AD7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829050"/>
            <a:ext cx="3810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C8D0E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C8D0E5"/>
                </a:solidFill>
                <a:latin typeface="Aptos"/>
                <a:ea typeface="Aptos"/>
                <a:cs typeface="Aptos"/>
              </a:rPr>
              <a:t>Run the Colab pilot against a deployed AIP service and return pilot_results.json.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DF067A-C6D4-4DA3-B056-515F40445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76750"/>
            <a:ext cx="6762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0A43"/>
          </a:solidFill>
          <a:ln xmlns:a="http://schemas.openxmlformats.org/drawingml/2006/main" w="9525">
            <a:solidFill>
              <a:srgbClr val="2A236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BEB099-9201-4ECB-B91A-B6BD6A2BA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10100"/>
            <a:ext cx="28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A49F2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7A49F2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87BB8E-23D8-4D09-8B1E-72EA350EF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720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RDI support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52D69F-7202-4359-99A5-7C778AC4A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572000"/>
            <a:ext cx="3810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C8D0E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C8D0E5"/>
                </a:solidFill>
                <a:latin typeface="Aptos"/>
                <a:ea typeface="Aptos"/>
                <a:cs typeface="Aptos"/>
              </a:rPr>
              <a:t>Fund TRL-5/6 validation: deployment, cryptographic hardening, and bare-metal lab.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A7E8CD-18BE-4A81-9693-1E74F2918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6762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0A43"/>
          </a:solidFill>
          <a:ln xmlns:a="http://schemas.openxmlformats.org/drawingml/2006/main" w="9525">
            <a:solidFill>
              <a:srgbClr val="2A236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EF7F65-56F2-405D-ABA1-75FC335CC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53050"/>
            <a:ext cx="28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2EE8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2EE8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A60DE4-3D64-43FE-9516-5F7335E8F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149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Technical diligence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0D418B-64F0-43EF-A094-81229775B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314950"/>
            <a:ext cx="3810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C8D0E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C8D0E5"/>
                </a:solidFill>
                <a:latin typeface="Aptos"/>
                <a:ea typeface="Aptos"/>
                <a:cs typeface="Aptos"/>
              </a:rPr>
              <a:t>Review the repo, CI artifacts, passport verifier, and validation ladder.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6EA8EE-78A7-461C-94D0-8C672986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314700"/>
            <a:ext cx="27241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9E53C7-CA15-4DB6-8DE1-B9FF843E3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5814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1020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A1020"/>
                </a:solidFill>
                <a:latin typeface="Aptos Display"/>
                <a:ea typeface="Aptos Display"/>
                <a:cs typeface="Aptos Display"/>
              </a:rPr>
              <a:t>Next step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11CA66-1626-4330-B5CC-34E8BCB79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019550"/>
            <a:ext cx="21717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0A1020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0A1020"/>
                </a:solidFill>
                <a:latin typeface="Aptos"/>
                <a:ea typeface="Aptos"/>
                <a:cs typeface="Aptos"/>
              </a:rPr>
              <a:t>Deploy aip-service publicly, run the Agent Passport Colab pilot, and attach generated evidence to the TDB/RDI dossier.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03BDAE-783E-443F-907A-84E74F730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257800"/>
            <a:ext cx="41433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D9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6C6491-D451-4D71-9D80-3155146B8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5257800"/>
            <a:ext cx="41433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9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479729-A73A-482A-9424-BCF57D2D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5257800"/>
            <a:ext cx="41433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9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E7544D-6B45-4921-91D4-C273D14CA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1238" y="5257800"/>
            <a:ext cx="41433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2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A197E53-8D2C-4C1F-907D-C0A5C088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10300"/>
            <a:ext cx="36671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D9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EB7CDD3-D58E-4CFA-9107-149848C16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8" y="6210300"/>
            <a:ext cx="36671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9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52500AC-61DA-4F4C-8038-1D2AD9B4C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6210300"/>
            <a:ext cx="36671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9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AF87A1B-CE07-4BB8-82A5-6607BC773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913" y="6210300"/>
            <a:ext cx="36671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2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8DCD497-4AF2-469E-BAFB-41883F45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4198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91A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91A3"/>
                </a:solidFill>
                <a:latin typeface="Aptos"/>
                <a:ea typeface="Aptos"/>
                <a:cs typeface="Aptos"/>
              </a:rPr>
              <a:t>SYNTRIASS | AIRON pitch deck | Funding support and pilots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5E26A7B-6A07-430B-A027-3D72B1691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A91A3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8A91A3"/>
                </a:solidFill>
                <a:latin typeface="Aptos Mono"/>
                <a:ea typeface="Aptos Mono"/>
                <a:cs typeface="Aptos Mono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7792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2026-06-03T17:01:54.1930000Z</dcterms:created>
  <dcterms:modified xsi:type="dcterms:W3CDTF">2026-06-03T17:01:54.1930000Z</dcterms:modified>
</coreProperties>
</file>