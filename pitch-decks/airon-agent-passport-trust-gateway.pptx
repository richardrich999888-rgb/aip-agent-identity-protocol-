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ef96d9c4f0a4b06" /><Relationship Type="http://schemas.openxmlformats.org/officeDocument/2006/relationships/extended-properties" Target="/docProps/app.xml" Id="R73551dc341264b20" /><Relationship Type="http://schemas.openxmlformats.org/officeDocument/2006/relationships/officeDocument" Target="/ppt/presentation.xml" Id="Rf823b502c4d34b9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8e83e81d7a24c8e"/>
  </p:sldMasterIdLst>
  <p:notesMasterIdLst>
    <p:notesMasterId xmlns:r="http://schemas.openxmlformats.org/officeDocument/2006/relationships" r:id="R859d0fa17f7e4d16"/>
  </p:notesMasterIdLst>
  <p:sldIdLst>
    <p:sldId xmlns:r="http://schemas.openxmlformats.org/officeDocument/2006/relationships" id="256" r:id="R5a9b68987a0d414c"/>
    <p:sldId xmlns:r="http://schemas.openxmlformats.org/officeDocument/2006/relationships" id="257" r:id="R4cc7e96b3f1f4ac3"/>
    <p:sldId xmlns:r="http://schemas.openxmlformats.org/officeDocument/2006/relationships" id="258" r:id="R020a1d02de26485d"/>
    <p:sldId xmlns:r="http://schemas.openxmlformats.org/officeDocument/2006/relationships" id="259" r:id="R7ddba32dd8264d20"/>
    <p:sldId xmlns:r="http://schemas.openxmlformats.org/officeDocument/2006/relationships" id="260" r:id="R64057c15af564197"/>
    <p:sldId xmlns:r="http://schemas.openxmlformats.org/officeDocument/2006/relationships" id="261" r:id="R333dbf1624a94736"/>
    <p:sldId xmlns:r="http://schemas.openxmlformats.org/officeDocument/2006/relationships" id="262" r:id="Rfd144f14e1e24cd9"/>
    <p:sldId xmlns:r="http://schemas.openxmlformats.org/officeDocument/2006/relationships" id="263" r:id="Ra1d05073881d4058"/>
    <p:sldId xmlns:r="http://schemas.openxmlformats.org/officeDocument/2006/relationships" id="264" r:id="R7b02942de6a64d4b"/>
    <p:sldId xmlns:r="http://schemas.openxmlformats.org/officeDocument/2006/relationships" id="265" r:id="R65cad8b8a77547be"/>
    <p:sldId xmlns:r="http://schemas.openxmlformats.org/officeDocument/2006/relationships" id="266" r:id="Rceac8574f90d4ec8"/>
    <p:sldId xmlns:r="http://schemas.openxmlformats.org/officeDocument/2006/relationships" id="267" r:id="R83566bc8d9a14e4d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c29644de0b14623" /><Relationship Type="http://schemas.openxmlformats.org/officeDocument/2006/relationships/slideMaster" Target="/ppt/slideMasters/slideMaster1.xml" Id="R58e83e81d7a24c8e" /><Relationship Type="http://schemas.openxmlformats.org/officeDocument/2006/relationships/notesMaster" Target="/ppt/notesMasters/notesMaster1.xml" Id="R859d0fa17f7e4d16" /><Relationship Type="http://schemas.openxmlformats.org/officeDocument/2006/relationships/presProps" Target="/ppt/presProps.xml" Id="R0520e48f9b73469d" /><Relationship Type="http://schemas.openxmlformats.org/officeDocument/2006/relationships/viewProps" Target="/ppt/viewProps.xml" Id="Ra01b18b759a34498" /><Relationship Type="http://schemas.openxmlformats.org/officeDocument/2006/relationships/tableStyles" Target="/ppt/tableStyles.xml" Id="R500f137dbed84a37" /><Relationship Type="http://schemas.openxmlformats.org/officeDocument/2006/relationships/slide" Target="/ppt/slides/slide1.xml" Id="R5a9b68987a0d414c" /><Relationship Type="http://schemas.openxmlformats.org/officeDocument/2006/relationships/slide" Target="/ppt/slides/slide2.xml" Id="R4cc7e96b3f1f4ac3" /><Relationship Type="http://schemas.openxmlformats.org/officeDocument/2006/relationships/slide" Target="/ppt/slides/slide3.xml" Id="R020a1d02de26485d" /><Relationship Type="http://schemas.openxmlformats.org/officeDocument/2006/relationships/slide" Target="/ppt/slides/slide4.xml" Id="R7ddba32dd8264d20" /><Relationship Type="http://schemas.openxmlformats.org/officeDocument/2006/relationships/slide" Target="/ppt/slides/slide5.xml" Id="R64057c15af564197" /><Relationship Type="http://schemas.openxmlformats.org/officeDocument/2006/relationships/slide" Target="/ppt/slides/slide6.xml" Id="R333dbf1624a94736" /><Relationship Type="http://schemas.openxmlformats.org/officeDocument/2006/relationships/slide" Target="/ppt/slides/slide7.xml" Id="Rfd144f14e1e24cd9" /><Relationship Type="http://schemas.openxmlformats.org/officeDocument/2006/relationships/slide" Target="/ppt/slides/slide8.xml" Id="Ra1d05073881d4058" /><Relationship Type="http://schemas.openxmlformats.org/officeDocument/2006/relationships/slide" Target="/ppt/slides/slide9.xml" Id="R7b02942de6a64d4b" /><Relationship Type="http://schemas.openxmlformats.org/officeDocument/2006/relationships/slide" Target="/ppt/slides/slide10.xml" Id="R65cad8b8a77547be" /><Relationship Type="http://schemas.openxmlformats.org/officeDocument/2006/relationships/slide" Target="/ppt/slides/slide11.xml" Id="Rceac8574f90d4ec8" /><Relationship Type="http://schemas.openxmlformats.org/officeDocument/2006/relationships/slide" Target="/ppt/slides/slide12.xml" Id="R83566bc8d9a14e4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925f2900931473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08f7898be394d4f" /><Relationship Type="http://schemas.openxmlformats.org/officeDocument/2006/relationships/notesMaster" Target="/ppt/notesMasters/notesMaster1.xml" Id="Rd50b710f5029489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953941177ec4406" /><Relationship Type="http://schemas.openxmlformats.org/officeDocument/2006/relationships/notesMaster" Target="/ppt/notesMasters/notesMaster1.xml" Id="Rb0f35835c10b466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9a77251792348f0" /><Relationship Type="http://schemas.openxmlformats.org/officeDocument/2006/relationships/notesMaster" Target="/ppt/notesMasters/notesMaster1.xml" Id="Rf4ef20c174324ad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17022d79f574665" /><Relationship Type="http://schemas.openxmlformats.org/officeDocument/2006/relationships/notesMaster" Target="/ppt/notesMasters/notesMaster1.xml" Id="R407124cc4423411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51d9ee14cd842bf" /><Relationship Type="http://schemas.openxmlformats.org/officeDocument/2006/relationships/notesMaster" Target="/ppt/notesMasters/notesMaster1.xml" Id="Rb65b5969e6cf42c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e9b99ed6a184146" /><Relationship Type="http://schemas.openxmlformats.org/officeDocument/2006/relationships/notesMaster" Target="/ppt/notesMasters/notesMaster1.xml" Id="R09cf7676c7ae4d8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9507e1e77b243ea" /><Relationship Type="http://schemas.openxmlformats.org/officeDocument/2006/relationships/notesMaster" Target="/ppt/notesMasters/notesMaster1.xml" Id="Rada9bb05a72a478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5cfb9b21aee4019" /><Relationship Type="http://schemas.openxmlformats.org/officeDocument/2006/relationships/notesMaster" Target="/ppt/notesMasters/notesMaster1.xml" Id="R89a535c3087447b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c5f50a115444913" /><Relationship Type="http://schemas.openxmlformats.org/officeDocument/2006/relationships/notesMaster" Target="/ppt/notesMasters/notesMaster1.xml" Id="R889ce1136a904fde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822ddc895a524dec" /><Relationship Type="http://schemas.openxmlformats.org/officeDocument/2006/relationships/notesMaster" Target="/ppt/notesMasters/notesMaster1.xml" Id="Rd97d177525164378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7fea98ec0b32458b" /><Relationship Type="http://schemas.openxmlformats.org/officeDocument/2006/relationships/notesMaster" Target="/ppt/notesMasters/notesMaster1.xml" Id="R07a0b8a7379c4b5c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767202dbeb584f7b" /><Relationship Type="http://schemas.openxmlformats.org/officeDocument/2006/relationships/notesMaster" Target="/ppt/notesMasters/notesMaster1.xml" Id="Re0ad94f5d61b46b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1c31f23dc094ad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e9d4ba4fd4246c8" /><Relationship Type="http://schemas.openxmlformats.org/officeDocument/2006/relationships/slideLayout" Target="/ppt/slideLayouts/slideLayout1.xml" Id="Rc17835d569dd4a2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17835d569dd4a2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065d6f177bc4274" /><Relationship Type="http://schemas.openxmlformats.org/officeDocument/2006/relationships/image" Target="/ppt/media/image.jpeg" Id="R6a2068fe32c94b50" /><Relationship Type="http://schemas.openxmlformats.org/officeDocument/2006/relationships/notesSlide" Target="/ppt/notesSlides/notesSlide1.xml" Id="R5f6de2c3b1a8418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644ac9f6abd47af" /><Relationship Type="http://schemas.openxmlformats.org/officeDocument/2006/relationships/notesSlide" Target="/ppt/notesSlides/notesSlide2.xml" Id="R2271d55af55e498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b885ecd793c4df4" /><Relationship Type="http://schemas.openxmlformats.org/officeDocument/2006/relationships/notesSlide" Target="/ppt/notesSlides/notesSlide3.xml" Id="Rf94ae222c46d4d6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d5954d221e1433d" /><Relationship Type="http://schemas.openxmlformats.org/officeDocument/2006/relationships/notesSlide" Target="/ppt/notesSlides/notesSlide4.xml" Id="Rd6c12c99d2594ce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349c438abb3442a" /><Relationship Type="http://schemas.openxmlformats.org/officeDocument/2006/relationships/notesSlide" Target="/ppt/notesSlides/notesSlide5.xml" Id="R7ee235f101cf400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2935f126a8a4ab3" /><Relationship Type="http://schemas.openxmlformats.org/officeDocument/2006/relationships/notesSlide" Target="/ppt/notesSlides/notesSlide6.xml" Id="R7d9c7ddfb98347b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fcd4e7c2655491a" /><Relationship Type="http://schemas.openxmlformats.org/officeDocument/2006/relationships/notesSlide" Target="/ppt/notesSlides/notesSlide7.xml" Id="R0d7dcd71a692496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246de6c33304a63" /><Relationship Type="http://schemas.openxmlformats.org/officeDocument/2006/relationships/notesSlide" Target="/ppt/notesSlides/notesSlide8.xml" Id="R12d360c29e9d4b0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a918bbb8bc74fe9" /><Relationship Type="http://schemas.openxmlformats.org/officeDocument/2006/relationships/notesSlide" Target="/ppt/notesSlides/notesSlide9.xml" Id="R953c28a5bf384d77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242e1686a714c4d" /><Relationship Type="http://schemas.openxmlformats.org/officeDocument/2006/relationships/notesSlide" Target="/ppt/notesSlides/notesSlide10.xml" Id="R70e79a59fb5b4fd7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a677361176640ad" /><Relationship Type="http://schemas.openxmlformats.org/officeDocument/2006/relationships/notesSlide" Target="/ppt/notesSlides/notesSlide11.xml" Id="R4d56922d286242a4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eb8e22c1697424b" /><Relationship Type="http://schemas.openxmlformats.org/officeDocument/2006/relationships/image" Target="/ppt/media/image2.jpeg" Id="R9650bd4189104051" /><Relationship Type="http://schemas.openxmlformats.org/officeDocument/2006/relationships/notesSlide" Target="/ppt/notesSlides/notesSlide12.xml" Id="R2eb0b167d01147fa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C171B75-D356-4143-9811-119FC8C3F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002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491EE53-56D0-4BE7-9A8C-986103095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057525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D9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5C2CD5E-5599-4324-BDD0-CD9F53BA8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0"/>
            <a:ext cx="3057525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169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96085CA-6EB1-4270-B288-ADD68FB39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0"/>
            <a:ext cx="3057525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A49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103AD41-B0E0-45ED-9525-318868335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3057525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2E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a2068fe32c94b50"/>
          <a:stretch xmlns:a="http://schemas.openxmlformats.org/drawingml/2006/main"/>
        </p:blipFill>
        <p:spPr>
          <a:xfrm xmlns:a="http://schemas.openxmlformats.org/drawingml/2006/main">
            <a:off x="9191625" y="323850"/>
            <a:ext cx="1619250" cy="16192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F6898EA-6F59-40F0-89E7-0087221D9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"/>
            <a:ext cx="342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9D9F2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19D9F2"/>
                </a:solidFill>
                <a:latin typeface="Aptos Display"/>
                <a:ea typeface="Aptos Display"/>
                <a:cs typeface="Aptos Display"/>
              </a:rPr>
              <a:t>SYNTRIASS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01325C7-B48A-4FE2-AB3A-D1D776B01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57250"/>
            <a:ext cx="3429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C52EE8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52EE8"/>
                </a:solidFill>
                <a:latin typeface="Aptos"/>
                <a:ea typeface="Aptos"/>
                <a:cs typeface="Aptos"/>
              </a:rPr>
              <a:t>AIRON AGENT PASSPORT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2872518-4DAA-4F6B-A097-A11AD1738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43000"/>
            <a:ext cx="695325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36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AI agents need passports before they enter regulated infrastructure.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8180861-38B8-44ED-8A89-673A178B3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143250"/>
            <a:ext cx="7239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D8DEEC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D8DEEC"/>
                </a:solidFill>
                <a:latin typeface="Aptos"/>
                <a:ea typeface="Aptos"/>
                <a:cs typeface="Aptos"/>
              </a:rPr>
              <a:t>AIRON combines a portable Agent Passport layer with kernel-level AEGIS enforcement so autonomous agents can be identified, constrained, verified, revoked, and audited.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16D3F0F-A13A-4370-B2DE-FB20F995B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419600"/>
            <a:ext cx="2190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FAFD"/>
          </a:solidFill>
          <a:ln xmlns:a="http://schemas.openxmlformats.org/drawingml/2006/main" w="9525">
            <a:solidFill>
              <a:srgbClr val="E6FAFD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788B56A-5851-43FA-A2F0-47DB3DFAE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467225"/>
            <a:ext cx="2000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0A1020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A1020"/>
                </a:solidFill>
                <a:latin typeface="Aptos"/>
                <a:ea typeface="Aptos"/>
                <a:cs typeface="Aptos"/>
              </a:rPr>
              <a:t>AIP: passport and delegation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9039B8C-2E5D-449F-B69C-3041AA9BC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4419600"/>
            <a:ext cx="2476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0FF"/>
          </a:solidFill>
          <a:ln xmlns:a="http://schemas.openxmlformats.org/drawingml/2006/main" w="9525">
            <a:solidFill>
              <a:srgbClr val="EAF0F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C3A7DCB-DA0D-4C6A-8CE3-ADA3A5AA7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4467225"/>
            <a:ext cx="2286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0A1020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A1020"/>
                </a:solidFill>
                <a:latin typeface="Aptos"/>
                <a:ea typeface="Aptos"/>
                <a:cs typeface="Aptos"/>
              </a:rPr>
              <a:t>AEGIS: eBPF/XDP enforcement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6482E93-A479-4C39-88BC-3A442C1F4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4419600"/>
            <a:ext cx="2095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FFF6DD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F84AC89-80BA-4128-BBF1-D37241A09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4467225"/>
            <a:ext cx="1905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0A1020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A1020"/>
                </a:solidFill>
                <a:latin typeface="Aptos"/>
                <a:ea typeface="Aptos"/>
                <a:cs typeface="Aptos"/>
              </a:rPr>
              <a:t>TRL-5 pilot-ready path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C2CD6AD-373C-4D09-8461-851DC87A0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266950"/>
            <a:ext cx="27813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3E6E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71C6021-CAF8-40AF-B9CA-7A0F1DCD9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419350"/>
            <a:ext cx="24765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20A66A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20A66A"/>
                </a:solidFill>
                <a:latin typeface="Aptos Display"/>
                <a:ea typeface="Aptos Display"/>
                <a:cs typeface="Aptos Display"/>
              </a:rPr>
              <a:t>PASS / TOXIC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E85BA19-66B4-492D-841D-46E8E739F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838450"/>
            <a:ext cx="2476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Offline and online passport verification result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5618874-CCC0-44B4-ACCB-6797D44FD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505200"/>
            <a:ext cx="27813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3E6E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E0D7B75-F029-4AE2-AAF8-58FD1C458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3657600"/>
            <a:ext cx="24765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9D9F2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19D9F2"/>
                </a:solidFill>
                <a:latin typeface="Aptos Display"/>
                <a:ea typeface="Aptos Display"/>
                <a:cs typeface="Aptos Display"/>
              </a:rPr>
              <a:t>CI-verified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DE03FE0-D31B-4DBF-AE85-43F6B4226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076700"/>
            <a:ext cx="2476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AIP service, SDK, and verifier run in GitHub Actions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351B5FC-3A54-4298-A93A-97534E883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743450"/>
            <a:ext cx="27813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3E6EF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DBBA0E0-86D4-408A-B118-D0A8588F9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895850"/>
            <a:ext cx="24765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F2A900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F2A900"/>
                </a:solidFill>
                <a:latin typeface="Aptos Display"/>
                <a:ea typeface="Aptos Display"/>
                <a:cs typeface="Aptos Display"/>
              </a:rPr>
              <a:t>TRL-4 -&gt; 5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315AC45-CB99-480E-973C-9C33846BB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5314950"/>
            <a:ext cx="2476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Lab validation complete; relevant-environment pilots are next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5AD2678-2023-405B-AEDC-C82A801E0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10300"/>
            <a:ext cx="366713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D9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26314C6-7327-4C50-A6B3-3E16036F3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8" y="6210300"/>
            <a:ext cx="366713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169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6F8DBDA-9B9F-4562-9A8F-756FD3B98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" y="6210300"/>
            <a:ext cx="366713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A49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8B245DC-00FD-448D-BC8E-AD78ED400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5913" y="6210300"/>
            <a:ext cx="366713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2E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700F07C-5D42-4EE3-8348-C8A6E8F06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6419850"/>
            <a:ext cx="6858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8A91A3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8A91A3"/>
                </a:solidFill>
                <a:latin typeface="Aptos"/>
                <a:ea typeface="Aptos"/>
                <a:cs typeface="Aptos"/>
              </a:rPr>
              <a:t>SYNTRIASS | AIRON pitch deck | Agent Passport + AEGIS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E0BCC5A-5D29-4C59-932E-A14716CC0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62700"/>
            <a:ext cx="4000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8A91A3"/>
                </a:solidFill>
                <a:latin typeface="Aptos Mono"/>
                <a:ea typeface="Aptos Mono"/>
                <a:cs typeface="Aptos Mono"/>
              </a:defRPr>
            </a:pPr>
            <a:r>
              <a:rPr sz="825" b="0">
                <a:solidFill>
                  <a:srgbClr val="8A91A3"/>
                </a:solidFill>
                <a:latin typeface="Aptos Mono"/>
                <a:ea typeface="Aptos Mono"/>
                <a:cs typeface="Aptos Mono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617766088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89B7515-D016-4BCF-A5AD-31953A711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4E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92DAD1F-46CE-4CDA-9198-85CBD276A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66725"/>
            <a:ext cx="90488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D9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41464DB-F641-40BA-B7A6-388D19D04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3" y="466725"/>
            <a:ext cx="90488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169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09B321-A60B-49CF-9C01-3BB6D74A0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466725"/>
            <a:ext cx="90488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A49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200ADDD-D23A-4CAE-9E48-3C8D960D7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8" y="466725"/>
            <a:ext cx="90488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2E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3484A65-4412-439F-BD99-A78FE50EC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0050"/>
            <a:ext cx="400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251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251FF"/>
                </a:solidFill>
                <a:latin typeface="Aptos"/>
                <a:ea typeface="Aptos"/>
                <a:cs typeface="Aptos"/>
              </a:rPr>
              <a:t>PROBLEM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FAEDEAB-3237-42C3-B850-651AD3E11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23900"/>
            <a:ext cx="78105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A1020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0A1020"/>
                </a:solidFill>
                <a:latin typeface="Aptos Display"/>
                <a:ea typeface="Aptos Display"/>
                <a:cs typeface="Aptos Display"/>
              </a:rPr>
              <a:t>AI agents are being deployed without an accountability boundary.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95DE94-D4E0-4F5A-9582-DA485291B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71650"/>
            <a:ext cx="70485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0A1020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0A1020"/>
                </a:solidFill>
                <a:latin typeface="Aptos"/>
                <a:ea typeface="Aptos"/>
                <a:cs typeface="Aptos"/>
              </a:rPr>
              <a:t>In regulated workflows, a model output is not enough. Auditors need to know which agent acted, who authorized it, what it was allowed to do, and whether that authority was still valid.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281F2AD-DDBC-4047-B2F4-26B50786B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990850"/>
            <a:ext cx="2333625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2E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7A01019-F9E6-4765-8AE1-C0FFBBF13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990850"/>
            <a:ext cx="47625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3D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4F9CF84-E8B9-4333-80A0-B72808FF3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24200"/>
            <a:ext cx="20288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A1020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A1020"/>
                </a:solidFill>
                <a:latin typeface="Aptos"/>
                <a:ea typeface="Aptos"/>
                <a:cs typeface="Aptos"/>
              </a:rPr>
              <a:t>Anonymous automation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D5F7999-766D-4708-9FF0-AFBDCE82A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400425"/>
            <a:ext cx="2028825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Shared API keys and service accounts hide the true actor.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8554BAE-9C7C-4841-AAD7-DF6C39BB9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457575"/>
            <a:ext cx="4381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251FF"/>
                </a:solidFill>
                <a:latin typeface="Aptos Mono"/>
                <a:ea typeface="Aptos Mono"/>
                <a:cs typeface="Aptos Mono"/>
              </a:defRPr>
            </a:pPr>
            <a:r>
              <a:rPr sz="1350" b="1">
                <a:solidFill>
                  <a:srgbClr val="2251FF"/>
                </a:solidFill>
                <a:latin typeface="Aptos Mono"/>
                <a:ea typeface="Aptos Mono"/>
                <a:cs typeface="Aptos Mono"/>
              </a:rPr>
              <a:t>-&gt;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F7AD6BE-8575-4953-8298-ECB6ED5F8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990850"/>
            <a:ext cx="2333625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2E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2002461-C6AF-4A1A-BEFC-B3638E358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990850"/>
            <a:ext cx="47625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3D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9F07072-31CD-4EE3-B006-54FAB067F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3124200"/>
            <a:ext cx="20288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A1020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A1020"/>
                </a:solidFill>
                <a:latin typeface="Aptos"/>
                <a:ea typeface="Aptos"/>
                <a:cs typeface="Aptos"/>
              </a:rPr>
              <a:t>Scope creep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738A6C1-077C-4FF3-A34A-6ADC97AC2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3400425"/>
            <a:ext cx="2028825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Sub-agents inherit tools without mathematically bounded authority.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4E96D0E-74AE-4295-9A09-CCDD7AEF5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457575"/>
            <a:ext cx="4381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251FF"/>
                </a:solidFill>
                <a:latin typeface="Aptos Mono"/>
                <a:ea typeface="Aptos Mono"/>
                <a:cs typeface="Aptos Mono"/>
              </a:defRPr>
            </a:pPr>
            <a:r>
              <a:rPr sz="1350" b="1">
                <a:solidFill>
                  <a:srgbClr val="2251FF"/>
                </a:solidFill>
                <a:latin typeface="Aptos Mono"/>
                <a:ea typeface="Aptos Mono"/>
                <a:cs typeface="Aptos Mono"/>
              </a:rPr>
              <a:t>-&gt;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B049618-85BB-464A-A4D6-D77FC2A86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990850"/>
            <a:ext cx="2333625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2EF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62CE5A2-21F9-48C7-B971-14040A2E1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990850"/>
            <a:ext cx="47625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3D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24B6340-44C9-45DA-BA9E-DB8C8841A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124200"/>
            <a:ext cx="20288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A1020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A1020"/>
                </a:solidFill>
                <a:latin typeface="Aptos"/>
                <a:ea typeface="Aptos"/>
                <a:cs typeface="Aptos"/>
              </a:rPr>
              <a:t>No court-grade trail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CEE3563-BD1D-406A-BCA4-62C8006E8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400425"/>
            <a:ext cx="2028825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Logs are fragmented and cannot prove delegation lineage.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81381E4-9FA0-46FB-AE9B-9CAABDAE9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457575"/>
            <a:ext cx="4381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251FF"/>
                </a:solidFill>
                <a:latin typeface="Aptos Mono"/>
                <a:ea typeface="Aptos Mono"/>
                <a:cs typeface="Aptos Mono"/>
              </a:defRPr>
            </a:pPr>
            <a:r>
              <a:rPr sz="1350" b="1">
                <a:solidFill>
                  <a:srgbClr val="2251FF"/>
                </a:solidFill>
                <a:latin typeface="Aptos Mono"/>
                <a:ea typeface="Aptos Mono"/>
                <a:cs typeface="Aptos Mono"/>
              </a:rPr>
              <a:t>-&gt;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B931B86-A78E-4E27-A793-37962888A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7375" y="2876550"/>
            <a:ext cx="200025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ECEC"/>
          </a:solidFill>
          <a:ln xmlns:a="http://schemas.openxmlformats.org/drawingml/2006/main" w="9525">
            <a:solidFill>
              <a:srgbClr val="F0B7B7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A71C93E-B27C-40B8-B2BD-3EB9ABF5A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3124200"/>
            <a:ext cx="1619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C43D3D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C43D3D"/>
                </a:solidFill>
                <a:latin typeface="Aptos Display"/>
                <a:ea typeface="Aptos Display"/>
                <a:cs typeface="Aptos Display"/>
              </a:rPr>
              <a:t>Liability gap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20F3A6B-8D42-4531-B8E3-A7391F78C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3486150"/>
            <a:ext cx="15621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0A102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0A1020"/>
                </a:solidFill>
                <a:latin typeface="Aptos"/>
                <a:ea typeface="Aptos"/>
                <a:cs typeface="Aptos"/>
              </a:rPr>
              <a:t>A breach can scale at machine speed while ownership stays unclear.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9FE7C12-BAA3-4CE6-BB41-5665621DE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10300"/>
            <a:ext cx="366713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D9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9E97435-3D86-4A95-9B5C-B2F349A55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8" y="6210300"/>
            <a:ext cx="366713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169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9A8E815-605F-4418-AAFC-AF5925771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" y="6210300"/>
            <a:ext cx="366713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A49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ECF7667-9E9F-4F78-912B-7D3DDC440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5913" y="6210300"/>
            <a:ext cx="366713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2E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36AAD5B-21CF-43A7-8601-38FBFDD8D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6419850"/>
            <a:ext cx="6858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8A91A3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8A91A3"/>
                </a:solidFill>
                <a:latin typeface="Aptos"/>
                <a:ea typeface="Aptos"/>
                <a:cs typeface="Aptos"/>
              </a:rPr>
              <a:t>SYNTRIASS | AIRON Trust Infrastructure | Confidential pilot deck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841A993-2F2F-41B6-A113-765A1D6E6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62700"/>
            <a:ext cx="4000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8A91A3"/>
                </a:solidFill>
                <a:latin typeface="Aptos Mono"/>
                <a:ea typeface="Aptos Mono"/>
                <a:cs typeface="Aptos Mono"/>
              </a:defRPr>
            </a:pPr>
            <a:r>
              <a:rPr sz="825" b="0">
                <a:solidFill>
                  <a:srgbClr val="8A91A3"/>
                </a:solidFill>
                <a:latin typeface="Aptos Mono"/>
                <a:ea typeface="Aptos Mono"/>
                <a:cs typeface="Aptos Mono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961753089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4DFB7F2-DEA5-4433-92F2-98E0A0958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4E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A6B77E6-4B76-4591-9D2B-CEAED9357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66725"/>
            <a:ext cx="90488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D9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3D890FE-276A-4D8C-8C60-AB3611AF2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3" y="466725"/>
            <a:ext cx="90488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169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C13BCB5-4234-43A8-9DB3-E46F48BE2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466725"/>
            <a:ext cx="90488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A49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794FDBD-74FD-4734-B7ED-4B169BCBE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8" y="466725"/>
            <a:ext cx="90488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2E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7BCBE71-FD42-4DCC-B20F-8A178CAF8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0050"/>
            <a:ext cx="400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251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251FF"/>
                </a:solidFill>
                <a:latin typeface="Aptos"/>
                <a:ea typeface="Aptos"/>
                <a:cs typeface="Aptos"/>
              </a:rPr>
              <a:t>SOLUTION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CA8574E-222D-4FED-8C9F-E901EB1F6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23900"/>
            <a:ext cx="76200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A1020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0A1020"/>
                </a:solidFill>
                <a:latin typeface="Aptos Display"/>
                <a:ea typeface="Aptos Display"/>
                <a:cs typeface="Aptos Display"/>
              </a:rPr>
              <a:t>AIRON Agent Passport gives every agent a portable credential.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0DE335A-EB28-4F6E-A654-C4A849203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14500"/>
            <a:ext cx="6858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0A1020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0A1020"/>
                </a:solidFill>
                <a:latin typeface="Aptos"/>
                <a:ea typeface="Aptos"/>
                <a:cs typeface="Aptos"/>
              </a:rPr>
              <a:t>The passport is a signed JSON document that travels with the agent and can be verified before tool execution or during offline audit.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973FDB0-C834-42AF-B97A-6E824CB08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362200"/>
            <a:ext cx="4191000" cy="2971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6F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75E50C7-A881-4BB0-B70B-0967A35B8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667000"/>
            <a:ext cx="3619500" cy="2266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0A1020"/>
                </a:solidFill>
                <a:latin typeface="Aptos Mono"/>
                <a:ea typeface="Aptos Mono"/>
                <a:cs typeface="Aptos Mono"/>
              </a:defRPr>
            </a:pPr>
            <a:r>
              <a:rPr sz="1500" b="0">
                <a:solidFill>
                  <a:srgbClr val="0A1020"/>
                </a:solidFill>
                <a:latin typeface="Aptos Mono"/>
                <a:ea typeface="Aptos Mono"/>
                <a:cs typeface="Aptos Mono"/>
              </a:rPr>
              <a:t>{</a:t>
            </a:r>
          </a:p>
          <a:p xmlns:a="http://schemas.openxmlformats.org/drawingml/2006/main">
            <a:pPr algn="l">
              <a:defRPr sz="1500" b="0">
                <a:solidFill>
                  <a:srgbClr val="0A1020"/>
                </a:solidFill>
                <a:latin typeface="Aptos Mono"/>
                <a:ea typeface="Aptos Mono"/>
                <a:cs typeface="Aptos Mono"/>
              </a:defRPr>
            </a:pPr>
            <a:r>
              <a:rPr sz="1500" b="0">
                <a:solidFill>
                  <a:srgbClr val="0A1020"/>
                </a:solidFill>
                <a:latin typeface="Aptos Mono"/>
                <a:ea typeface="Aptos Mono"/>
                <a:cs typeface="Aptos Mono"/>
              </a:rPr>
              <a:t>  header: AIP-PASSPORT,</a:t>
            </a:r>
          </a:p>
          <a:p xmlns:a="http://schemas.openxmlformats.org/drawingml/2006/main">
            <a:pPr algn="l">
              <a:defRPr sz="1500" b="0">
                <a:solidFill>
                  <a:srgbClr val="0A1020"/>
                </a:solidFill>
                <a:latin typeface="Aptos Mono"/>
                <a:ea typeface="Aptos Mono"/>
                <a:cs typeface="Aptos Mono"/>
              </a:defRPr>
            </a:pPr>
            <a:r>
              <a:rPr sz="1500" b="0">
                <a:solidFill>
                  <a:srgbClr val="0A1020"/>
                </a:solidFill>
                <a:latin typeface="Aptos Mono"/>
                <a:ea typeface="Aptos Mono"/>
                <a:cs typeface="Aptos Mono"/>
              </a:rPr>
              <a:t>  subject: agent + keys,</a:t>
            </a:r>
          </a:p>
          <a:p xmlns:a="http://schemas.openxmlformats.org/drawingml/2006/main">
            <a:pPr algn="l">
              <a:defRPr sz="1500" b="0">
                <a:solidFill>
                  <a:srgbClr val="0A1020"/>
                </a:solidFill>
                <a:latin typeface="Aptos Mono"/>
                <a:ea typeface="Aptos Mono"/>
                <a:cs typeface="Aptos Mono"/>
              </a:defRPr>
            </a:pPr>
            <a:r>
              <a:rPr sz="1500" b="0">
                <a:solidFill>
                  <a:srgbClr val="0A1020"/>
                </a:solidFill>
                <a:latin typeface="Aptos Mono"/>
                <a:ea typeface="Aptos Mono"/>
                <a:cs typeface="Aptos Mono"/>
              </a:rPr>
              <a:t>  issuer: AIRON root,</a:t>
            </a:r>
          </a:p>
          <a:p xmlns:a="http://schemas.openxmlformats.org/drawingml/2006/main">
            <a:pPr algn="l">
              <a:defRPr sz="1500" b="0">
                <a:solidFill>
                  <a:srgbClr val="0A1020"/>
                </a:solidFill>
                <a:latin typeface="Aptos Mono"/>
                <a:ea typeface="Aptos Mono"/>
                <a:cs typeface="Aptos Mono"/>
              </a:defRPr>
            </a:pPr>
            <a:r>
              <a:rPr sz="1500" b="0">
                <a:solidFill>
                  <a:srgbClr val="0A1020"/>
                </a:solidFill>
                <a:latin typeface="Aptos Mono"/>
                <a:ea typeface="Aptos Mono"/>
                <a:cs typeface="Aptos Mono"/>
              </a:rPr>
              <a:t>  constraints: scopes + expiry,</a:t>
            </a:r>
          </a:p>
          <a:p xmlns:a="http://schemas.openxmlformats.org/drawingml/2006/main">
            <a:pPr algn="l">
              <a:defRPr sz="1500" b="0">
                <a:solidFill>
                  <a:srgbClr val="0A1020"/>
                </a:solidFill>
                <a:latin typeface="Aptos Mono"/>
                <a:ea typeface="Aptos Mono"/>
                <a:cs typeface="Aptos Mono"/>
              </a:defRPr>
            </a:pPr>
            <a:r>
              <a:rPr sz="1500" b="0">
                <a:solidFill>
                  <a:srgbClr val="0A1020"/>
                </a:solidFill>
                <a:latin typeface="Aptos Mono"/>
                <a:ea typeface="Aptos Mono"/>
                <a:cs typeface="Aptos Mono"/>
              </a:rPr>
              <a:t>  lineage: signed authority,</a:t>
            </a:r>
          </a:p>
          <a:p xmlns:a="http://schemas.openxmlformats.org/drawingml/2006/main">
            <a:pPr algn="l">
              <a:defRPr sz="1500" b="0">
                <a:solidFill>
                  <a:srgbClr val="0A1020"/>
                </a:solidFill>
                <a:latin typeface="Aptos Mono"/>
                <a:ea typeface="Aptos Mono"/>
                <a:cs typeface="Aptos Mono"/>
              </a:defRPr>
            </a:pPr>
            <a:r>
              <a:rPr sz="1500" b="0">
                <a:solidFill>
                  <a:srgbClr val="0A1020"/>
                </a:solidFill>
                <a:latin typeface="Aptos Mono"/>
                <a:ea typeface="Aptos Mono"/>
                <a:cs typeface="Aptos Mono"/>
              </a:rPr>
              <a:t>  environmental_lock: runtime,</a:t>
            </a:r>
          </a:p>
          <a:p xmlns:a="http://schemas.openxmlformats.org/drawingml/2006/main">
            <a:pPr algn="l">
              <a:defRPr sz="1500" b="0">
                <a:solidFill>
                  <a:srgbClr val="0A1020"/>
                </a:solidFill>
                <a:latin typeface="Aptos Mono"/>
                <a:ea typeface="Aptos Mono"/>
                <a:cs typeface="Aptos Mono"/>
              </a:defRPr>
            </a:pPr>
            <a:r>
              <a:rPr sz="1500" b="0">
                <a:solidFill>
                  <a:srgbClr val="0A1020"/>
                </a:solidFill>
                <a:latin typeface="Aptos Mono"/>
                <a:ea typeface="Aptos Mono"/>
                <a:cs typeface="Aptos Mono"/>
              </a:rPr>
              <a:t>  proof: signature</a:t>
            </a:r>
          </a:p>
          <a:p xmlns:a="http://schemas.openxmlformats.org/drawingml/2006/main">
            <a:pPr algn="l">
              <a:defRPr sz="1500" b="0">
                <a:solidFill>
                  <a:srgbClr val="0A1020"/>
                </a:solidFill>
                <a:latin typeface="Aptos Mono"/>
                <a:ea typeface="Aptos Mono"/>
                <a:cs typeface="Aptos Mono"/>
              </a:defRPr>
            </a:pPr>
            <a:r>
              <a:rPr sz="1500" b="0">
                <a:solidFill>
                  <a:srgbClr val="0A1020"/>
                </a:solidFill>
                <a:latin typeface="Aptos Mono"/>
                <a:ea typeface="Aptos Mono"/>
                <a:cs typeface="Aptos Mono"/>
              </a:rPr>
              <a:t>}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3B70FC3-D680-442A-AC0B-C114E590E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571750"/>
            <a:ext cx="114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2251FF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2251FF"/>
                </a:solidFill>
                <a:latin typeface="Aptos"/>
                <a:ea typeface="Aptos"/>
                <a:cs typeface="Aptos"/>
              </a:rPr>
              <a:t>IDENTITY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AA8B8DC-44E8-47B4-9306-881180788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819400"/>
            <a:ext cx="2095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A102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0A1020"/>
                </a:solidFill>
                <a:latin typeface="Aptos"/>
                <a:ea typeface="Aptos"/>
                <a:cs typeface="Aptos"/>
              </a:rPr>
              <a:t>Agent ID, friendly name, and public key fields.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CDBDF11-2159-4428-B238-8A51E8169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733800"/>
            <a:ext cx="114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2251FF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2251FF"/>
                </a:solidFill>
                <a:latin typeface="Aptos"/>
                <a:ea typeface="Aptos"/>
                <a:cs typeface="Aptos"/>
              </a:rPr>
              <a:t>AUTHORITY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CCEF64F-32DC-4745-B843-DCF95B9FD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981450"/>
            <a:ext cx="22669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A102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0A1020"/>
                </a:solidFill>
                <a:latin typeface="Aptos"/>
                <a:ea typeface="Aptos"/>
                <a:cs typeface="Aptos"/>
              </a:rPr>
              <a:t>Issuer identity and signed lineage bind the passport to a parent AIP token.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C1CD4C8-9A0D-4B88-B514-62C656159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571750"/>
            <a:ext cx="1333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2251FF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2251FF"/>
                </a:solidFill>
                <a:latin typeface="Aptos"/>
                <a:ea typeface="Aptos"/>
                <a:cs typeface="Aptos"/>
              </a:rPr>
              <a:t>CONSTRAINTS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613E29D-3FCC-4E40-88BF-7B1319919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819400"/>
            <a:ext cx="22669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A102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0A1020"/>
                </a:solidFill>
                <a:latin typeface="Aptos"/>
                <a:ea typeface="Aptos"/>
                <a:cs typeface="Aptos"/>
              </a:rPr>
              <a:t>Capability list, expiry, and max delegation depth define what the agent can do.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D53BACA-5A50-4CD9-AA06-2743B2D88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924300"/>
            <a:ext cx="1333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2251FF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2251FF"/>
                </a:solidFill>
                <a:latin typeface="Aptos"/>
                <a:ea typeface="Aptos"/>
                <a:cs typeface="Aptos"/>
              </a:rPr>
              <a:t>PROOF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F2A1D55-0F3E-4F3F-B647-8FD0EC8D4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171950"/>
            <a:ext cx="22669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A102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0A1020"/>
                </a:solidFill>
                <a:latin typeface="Aptos"/>
                <a:ea typeface="Aptos"/>
                <a:cs typeface="Aptos"/>
              </a:rPr>
              <a:t>Ed25519 proof in Phase 1; ML-DSA field reserved for hybrid PQC upgrade.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7042D5D-601A-44CC-82DF-E8C5CF5ED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5581650"/>
            <a:ext cx="1333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0FF"/>
          </a:solidFill>
          <a:ln xmlns:a="http://schemas.openxmlformats.org/drawingml/2006/main" w="9525">
            <a:solidFill>
              <a:srgbClr val="EAF0FF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9D3C402-8A58-469C-A882-426776AF4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5629275"/>
            <a:ext cx="114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0A1020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A1020"/>
                </a:solidFill>
                <a:latin typeface="Aptos"/>
                <a:ea typeface="Aptos"/>
                <a:cs typeface="Aptos"/>
              </a:rPr>
              <a:t>Verify online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AF63544-3392-4EF8-996E-C05E791CE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5581650"/>
            <a:ext cx="1333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FAFD"/>
          </a:solidFill>
          <a:ln xmlns:a="http://schemas.openxmlformats.org/drawingml/2006/main" w="9525">
            <a:solidFill>
              <a:srgbClr val="E6FAFD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F652F6C-D95D-4EF4-A20C-A6122EF93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629275"/>
            <a:ext cx="114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0A1020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A1020"/>
                </a:solidFill>
                <a:latin typeface="Aptos"/>
                <a:ea typeface="Aptos"/>
                <a:cs typeface="Aptos"/>
              </a:rPr>
              <a:t>Verify offline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205B412-0A8D-45D4-BF46-D096DA39D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5581650"/>
            <a:ext cx="1428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ECEC"/>
          </a:solidFill>
          <a:ln xmlns:a="http://schemas.openxmlformats.org/drawingml/2006/main" w="9525">
            <a:solidFill>
              <a:srgbClr val="FBECEC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48D2922-F9AB-48C2-8883-EE459F9E4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5629275"/>
            <a:ext cx="1238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C43D3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43D3D"/>
                </a:solidFill>
                <a:latin typeface="Aptos"/>
                <a:ea typeface="Aptos"/>
                <a:cs typeface="Aptos"/>
              </a:rPr>
              <a:t>Tamper = TOXIC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C395840-A82D-4079-A5E7-0388348D4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10300"/>
            <a:ext cx="366713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D9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EB014E3-DAB2-4801-9283-FF8C82F98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8" y="6210300"/>
            <a:ext cx="366713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169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6A3270A-A73F-4EE8-B9F3-7EA8406FA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" y="6210300"/>
            <a:ext cx="366713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A49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EE98AEA-7043-4B7B-A576-D83B48340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5913" y="6210300"/>
            <a:ext cx="366713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2E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13E1D33-D921-4ECE-B409-BDE509C24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6419850"/>
            <a:ext cx="6858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8A91A3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8A91A3"/>
                </a:solidFill>
                <a:latin typeface="Aptos"/>
                <a:ea typeface="Aptos"/>
                <a:cs typeface="Aptos"/>
              </a:rPr>
              <a:t>SYNTRIASS | AIRON Trust Infrastructure | Confidential pilot deck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F2F672A-DF07-4ACB-83B8-F077ABD6B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62700"/>
            <a:ext cx="4000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8A91A3"/>
                </a:solidFill>
                <a:latin typeface="Aptos Mono"/>
                <a:ea typeface="Aptos Mono"/>
                <a:cs typeface="Aptos Mono"/>
              </a:defRPr>
            </a:pPr>
            <a:r>
              <a:rPr sz="825" b="0">
                <a:solidFill>
                  <a:srgbClr val="8A91A3"/>
                </a:solidFill>
                <a:latin typeface="Aptos Mono"/>
                <a:ea typeface="Aptos Mono"/>
                <a:cs typeface="Aptos Mono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46412354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69540D8-9FA9-4111-A1A3-9DBAB63FD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4E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209BA1F-F731-4A0B-A676-C9EDAA236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66725"/>
            <a:ext cx="90488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D9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4CD1617-EFE3-4916-B9B7-CE709C81A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3" y="466725"/>
            <a:ext cx="90488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169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B066AB6-19AA-44E8-8BFE-7BD4057E1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466725"/>
            <a:ext cx="90488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A49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F105E37-99ED-4496-BB37-0BA038A9C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8" y="466725"/>
            <a:ext cx="90488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2E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6FED58B-A907-4340-920A-6B3C5B163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0050"/>
            <a:ext cx="400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251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251FF"/>
                </a:solidFill>
                <a:latin typeface="Aptos"/>
                <a:ea typeface="Aptos"/>
                <a:cs typeface="Aptos"/>
              </a:rPr>
              <a:t>PRODUCT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7DAA9B-2EE0-415D-985B-F54B126F1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23900"/>
            <a:ext cx="74295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A1020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0A1020"/>
                </a:solidFill>
                <a:latin typeface="Aptos Display"/>
                <a:ea typeface="Aptos Display"/>
                <a:cs typeface="Aptos Display"/>
              </a:rPr>
              <a:t>Passporting an agent is now an executable workflow.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59FBA20-69A0-4823-97F4-864F57B8A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695450"/>
            <a:ext cx="723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0A1020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0A1020"/>
                </a:solidFill>
                <a:latin typeface="Aptos"/>
                <a:ea typeface="Aptos"/>
                <a:cs typeface="Aptos"/>
              </a:rPr>
              <a:t>The current repo exposes issuance, verification, tamper rejection, offline audit, and Python SDK UX.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1CF1543-6BD2-41E4-BD5D-ECE4A85EA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781300"/>
            <a:ext cx="20002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2E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65595C4-F86B-4CBD-A6D7-A8F245685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781300"/>
            <a:ext cx="4762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51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5C47E90-E338-469F-8866-16C4A6572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914650"/>
            <a:ext cx="1695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A1020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A1020"/>
                </a:solidFill>
                <a:latin typeface="Aptos"/>
                <a:ea typeface="Aptos"/>
                <a:cs typeface="Aptos"/>
              </a:rPr>
              <a:t>1. Issue AIP token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5048E36-59FC-412A-8415-0098E13E8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90875"/>
            <a:ext cx="16954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POST /v1/identity/issue creates a signed agent token.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5D18A7F-26F2-4B9D-B77C-09A2869D7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3238500"/>
            <a:ext cx="4381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251FF"/>
                </a:solidFill>
                <a:latin typeface="Aptos Mono"/>
                <a:ea typeface="Aptos Mono"/>
                <a:cs typeface="Aptos Mono"/>
              </a:defRPr>
            </a:pPr>
            <a:r>
              <a:rPr sz="1350" b="1">
                <a:solidFill>
                  <a:srgbClr val="2251FF"/>
                </a:solidFill>
                <a:latin typeface="Aptos Mono"/>
                <a:ea typeface="Aptos Mono"/>
                <a:cs typeface="Aptos Mono"/>
              </a:rPr>
              <a:t>-&gt;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FABF787-5C3F-40E1-9E33-A8958BE9E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2781300"/>
            <a:ext cx="21907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2E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8D214EF-59B7-456A-865A-55A9E3B74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2781300"/>
            <a:ext cx="4762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D9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1619A89-8E85-4F2D-A691-21F6AF907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914650"/>
            <a:ext cx="18859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A1020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A1020"/>
                </a:solidFill>
                <a:latin typeface="Aptos"/>
                <a:ea typeface="Aptos"/>
                <a:cs typeface="Aptos"/>
              </a:rPr>
              <a:t>2. Issue passport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E2CD72C-9FB3-4AF2-8696-B3612370C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3190875"/>
            <a:ext cx="18859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POST /v1/passports/issue validates the token and signs the passport body.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AC966D6-DD13-4FF7-88EF-A1CA9D727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3238500"/>
            <a:ext cx="4381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251FF"/>
                </a:solidFill>
                <a:latin typeface="Aptos Mono"/>
                <a:ea typeface="Aptos Mono"/>
                <a:cs typeface="Aptos Mono"/>
              </a:defRPr>
            </a:pPr>
            <a:r>
              <a:rPr sz="1350" b="1">
                <a:solidFill>
                  <a:srgbClr val="2251FF"/>
                </a:solidFill>
                <a:latin typeface="Aptos Mono"/>
                <a:ea typeface="Aptos Mono"/>
                <a:cs typeface="Aptos Mono"/>
              </a:rPr>
              <a:t>-&gt;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C194CAF-F0AE-42AA-9063-3EC183A6F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781300"/>
            <a:ext cx="21907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2EF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2085F2A-1893-42E5-875E-BDF34DEF5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781300"/>
            <a:ext cx="4762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A66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1C5524B-B4C7-49AD-BE20-4E96B23D6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914650"/>
            <a:ext cx="18859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A1020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A1020"/>
                </a:solidFill>
                <a:latin typeface="Aptos"/>
                <a:ea typeface="Aptos"/>
                <a:cs typeface="Aptos"/>
              </a:rPr>
              <a:t>3. Verify before tool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3F0A50B-C33B-4DA5-9D57-8C3289633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190875"/>
            <a:ext cx="18859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POST /v1/passports/verify returns PASS for valid authority.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351C40A-6E5A-42DA-9F8B-63456EC0C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3238500"/>
            <a:ext cx="4381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251FF"/>
                </a:solidFill>
                <a:latin typeface="Aptos Mono"/>
                <a:ea typeface="Aptos Mono"/>
                <a:cs typeface="Aptos Mono"/>
              </a:defRPr>
            </a:pPr>
            <a:r>
              <a:rPr sz="1350" b="1">
                <a:solidFill>
                  <a:srgbClr val="2251FF"/>
                </a:solidFill>
                <a:latin typeface="Aptos Mono"/>
                <a:ea typeface="Aptos Mono"/>
                <a:cs typeface="Aptos Mono"/>
              </a:rPr>
              <a:t>-&gt;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CD6DB5D-7F1D-4716-B946-0292DC7F9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2781300"/>
            <a:ext cx="21907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2E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804A48C-ED51-455A-A5DE-1DDFD60DE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2781300"/>
            <a:ext cx="4762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3D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EAFDB11-0132-4F7A-A1A3-6B6825357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2914650"/>
            <a:ext cx="18859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A1020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A1020"/>
                </a:solidFill>
                <a:latin typeface="Aptos"/>
                <a:ea typeface="Aptos"/>
                <a:cs typeface="Aptos"/>
              </a:rPr>
              <a:t>4. Tamper test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A33B6E2-3CE6-438A-A355-627DCE862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3190875"/>
            <a:ext cx="18859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Capability mutation returns TOXIC instead of silent acceptance.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B4EC7B1-DDA7-4FF0-BEE0-117FB811B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4572000"/>
            <a:ext cx="3333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0FF"/>
          </a:solidFill>
          <a:ln xmlns:a="http://schemas.openxmlformats.org/drawingml/2006/main" w="9525">
            <a:solidFill>
              <a:srgbClr val="EAF0FF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A25914E-BD3E-40F1-8223-E5A0D0803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619625"/>
            <a:ext cx="3143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0A1020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A1020"/>
                </a:solidFill>
                <a:latin typeface="Aptos"/>
                <a:ea typeface="Aptos"/>
                <a:cs typeface="Aptos"/>
              </a:rPr>
              <a:t>Python: AgentPassport(config).issue(...)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0DE9FC4-DD85-4B81-98FE-28BEF1603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4572000"/>
            <a:ext cx="3714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FAFD"/>
          </a:solidFill>
          <a:ln xmlns:a="http://schemas.openxmlformats.org/drawingml/2006/main" w="9525">
            <a:solidFill>
              <a:srgbClr val="E6FAFD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7102925-B297-45FE-877F-B3AB809BD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4619625"/>
            <a:ext cx="3524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0A1020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A1020"/>
                </a:solidFill>
                <a:latin typeface="Aptos"/>
                <a:ea typeface="Aptos"/>
                <a:cs typeface="Aptos"/>
              </a:rPr>
              <a:t>CLI: airon-passport verify agent.passport.json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DBC3CED-4ACD-4443-BEF2-5FFC75F5C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5200650"/>
            <a:ext cx="7048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0A1020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0A1020"/>
                </a:solidFill>
                <a:latin typeface="Aptos"/>
                <a:ea typeface="Aptos"/>
                <a:cs typeface="Aptos"/>
              </a:rPr>
              <a:t>Developer outcome: one credential can be passed across LangChain agents, API tools, notebooks, and audit workflows.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1D92726-FD95-4A26-85E5-C5A7E8E42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10300"/>
            <a:ext cx="366713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D9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80F9F08-844B-473F-809A-7971578BA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8" y="6210300"/>
            <a:ext cx="366713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169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17E10D8-6D72-4612-B9BF-DC6AE5212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" y="6210300"/>
            <a:ext cx="366713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A49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8B7A3A5-DC85-4628-8E7B-39E7EE0A9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5913" y="6210300"/>
            <a:ext cx="366713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2E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85F8A9E-84B1-45EC-AEC2-8C709BE1F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6419850"/>
            <a:ext cx="6858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8A91A3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8A91A3"/>
                </a:solidFill>
                <a:latin typeface="Aptos"/>
                <a:ea typeface="Aptos"/>
                <a:cs typeface="Aptos"/>
              </a:rPr>
              <a:t>SYNTRIASS | AIRON Trust Infrastructure | Confidential pilot deck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4936D59-80B8-4E9F-9A56-B28C1EF45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62700"/>
            <a:ext cx="4000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8A91A3"/>
                </a:solidFill>
                <a:latin typeface="Aptos Mono"/>
                <a:ea typeface="Aptos Mono"/>
                <a:cs typeface="Aptos Mono"/>
              </a:defRPr>
            </a:pPr>
            <a:r>
              <a:rPr sz="825" b="0">
                <a:solidFill>
                  <a:srgbClr val="8A91A3"/>
                </a:solidFill>
                <a:latin typeface="Aptos Mono"/>
                <a:ea typeface="Aptos Mono"/>
                <a:cs typeface="Aptos Mono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755944837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B60058E-BA0F-4714-9BE4-42F3FAB5C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9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9C0547F-217B-4DFC-975A-FFB759900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66725"/>
            <a:ext cx="90488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D9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F678796-CEEE-4CA9-A013-3EEB25A61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3" y="466725"/>
            <a:ext cx="90488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169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582D30A-6E80-4AB8-B4B1-55830033B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466725"/>
            <a:ext cx="90488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A49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6769466-13E1-4613-B92F-8F56AEDC6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8" y="466725"/>
            <a:ext cx="90488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2E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F382948-7EF7-4306-8986-46F640DCF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0050"/>
            <a:ext cx="400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251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251FF"/>
                </a:solidFill>
                <a:latin typeface="Aptos"/>
                <a:ea typeface="Aptos"/>
                <a:cs typeface="Aptos"/>
              </a:rPr>
              <a:t>PLATFORM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2BC1543-465A-4143-B0BE-E09ADFBD6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23900"/>
            <a:ext cx="72390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A1020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0A1020"/>
                </a:solidFill>
                <a:latin typeface="Aptos Display"/>
                <a:ea typeface="Aptos Display"/>
                <a:cs typeface="Aptos Display"/>
              </a:rPr>
              <a:t>AIP governs the actor; AEGIS enforces the boundary.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D13E7DF-A7EF-4B22-A214-2DB5EE02C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676400"/>
            <a:ext cx="7524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0A1020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0A1020"/>
                </a:solidFill>
                <a:latin typeface="Aptos"/>
                <a:ea typeface="Aptos"/>
                <a:cs typeface="Aptos"/>
              </a:rPr>
              <a:t>Together they create a trust gateway for regulated agent traffic: identity decisions in user space, fast containment in kernel space.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999D759-136D-4A2F-8C9D-D1CE19EF4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28900"/>
            <a:ext cx="102870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0FF"/>
          </a:solidFill>
          <a:ln xmlns:a="http://schemas.openxmlformats.org/drawingml/2006/main" w="9525">
            <a:solidFill>
              <a:srgbClr val="BFCB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D8AEF20-F3EC-4276-889C-9C2E5BD28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781300"/>
            <a:ext cx="209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2251FF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2251FF"/>
                </a:solidFill>
                <a:latin typeface="Aptos"/>
                <a:ea typeface="Aptos"/>
                <a:cs typeface="Aptos"/>
              </a:rPr>
              <a:t>AIP CONTROL PLANE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C6BB3CE-F5C1-44B0-A19F-7E968E35F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048000"/>
            <a:ext cx="20002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2E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33B4FD4-3F4C-40FF-905E-7FE5EE59A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048000"/>
            <a:ext cx="47625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51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FFE51A5-7E65-4D71-9FA3-AB26CB2CE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143250"/>
            <a:ext cx="1695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A1020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A1020"/>
                </a:solidFill>
                <a:latin typeface="Aptos"/>
                <a:ea typeface="Aptos"/>
                <a:cs typeface="Aptos"/>
              </a:rPr>
              <a:t>Agent Passport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544EAE9-97E0-4333-81D6-8CBE7E78D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390900"/>
            <a:ext cx="1695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Portable signed credential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06A8ABC-62B7-4459-AA71-500F5B6E8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048000"/>
            <a:ext cx="20955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2E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56BC261-F6DC-4708-8B05-DD6CA1116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048000"/>
            <a:ext cx="47625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51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FACC2A3-5036-4961-B5E8-C6640A637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3143250"/>
            <a:ext cx="17907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A1020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A1020"/>
                </a:solidFill>
                <a:latin typeface="Aptos"/>
                <a:ea typeface="Aptos"/>
                <a:cs typeface="Aptos"/>
              </a:rPr>
              <a:t>Delegation lattice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46DF8A5-CDA4-4A01-9CFF-82B656CC9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3390900"/>
            <a:ext cx="17907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Scopes cannot exceed parent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8781224-F12A-4486-A7A4-1B8C77A68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048000"/>
            <a:ext cx="20002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2EF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8A3D36B-EB36-40FA-9CFA-22432340B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048000"/>
            <a:ext cx="47625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51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F3D8CEA-8BF5-45AB-A77C-3BCCFBCA1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143250"/>
            <a:ext cx="1695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A1020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A1020"/>
                </a:solidFill>
                <a:latin typeface="Aptos"/>
                <a:ea typeface="Aptos"/>
                <a:cs typeface="Aptos"/>
              </a:rPr>
              <a:t>Revocation graph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ACFD230-E627-4868-AA23-6DA667B19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390900"/>
            <a:ext cx="1695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Cascade invalidation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C03C161-CC59-4708-B1CC-99DAE7F68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3048000"/>
            <a:ext cx="20002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2EF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136B46A-9702-4E20-BEDA-A44E57909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3048000"/>
            <a:ext cx="47625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51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DAC7663-2C6E-4ECC-8603-3A25C25EE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3143250"/>
            <a:ext cx="1695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A1020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A1020"/>
                </a:solidFill>
                <a:latin typeface="Aptos"/>
                <a:ea typeface="Aptos"/>
                <a:cs typeface="Aptos"/>
              </a:rPr>
              <a:t>EvidencePacket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5CF151A-6CD4-49E6-878A-1FDCFD1CC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3390900"/>
            <a:ext cx="1695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Audit-grade trace binding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BA47FAD-6D96-4958-8195-A9A18FBC4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324350"/>
            <a:ext cx="102870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FAFD"/>
          </a:solidFill>
          <a:ln xmlns:a="http://schemas.openxmlformats.org/drawingml/2006/main" w="9525">
            <a:solidFill>
              <a:srgbClr val="B8EAF1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10613BD-4124-4610-BADC-76F289A5E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476750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19D9F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9D9F2"/>
                </a:solidFill>
                <a:latin typeface="Aptos"/>
                <a:ea typeface="Aptos"/>
                <a:cs typeface="Aptos"/>
              </a:rPr>
              <a:t>AEGIS ENFORCEMENT PLANE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53CECB8-292E-45CE-9CE9-D7BB6260D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743450"/>
            <a:ext cx="20002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2EF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6F685D7-2FB8-46BB-A98D-CB50D4BD5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743450"/>
            <a:ext cx="47625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D9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232AF21-7F98-4D62-976B-5E63CC86F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838700"/>
            <a:ext cx="1695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A1020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A1020"/>
                </a:solidFill>
                <a:latin typeface="Aptos"/>
                <a:ea typeface="Aptos"/>
                <a:cs typeface="Aptos"/>
              </a:rPr>
              <a:t>eBPF/XDP hook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97AC6B3-3BCB-43B7-A97D-1EF83A706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086350"/>
            <a:ext cx="1695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Packet path interception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05AFD60-FBBA-4256-8814-D56516D38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743450"/>
            <a:ext cx="20955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2EF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22E1590-8DAA-4A6A-9BE6-2226DFD9F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743450"/>
            <a:ext cx="47625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D9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0CA58C0-C6F8-46DB-9B37-5A71596ED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4838700"/>
            <a:ext cx="17907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A1020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A1020"/>
                </a:solidFill>
                <a:latin typeface="Aptos"/>
                <a:ea typeface="Aptos"/>
                <a:cs typeface="Aptos"/>
              </a:rPr>
              <a:t>Session maps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33A2F78-A469-4A59-BED2-8EB8C5E43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5086350"/>
            <a:ext cx="17907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Kernel-resident state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EA13120-5999-4E66-ABAD-55DB4A2C9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4743450"/>
            <a:ext cx="20002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2EF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1415981-86D1-4E07-AE48-1C7399604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4743450"/>
            <a:ext cx="47625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D9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7A8C7D0-0EEB-4E0A-AD4D-4DC145DE8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838700"/>
            <a:ext cx="1695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A1020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A1020"/>
                </a:solidFill>
                <a:latin typeface="Aptos"/>
                <a:ea typeface="Aptos"/>
                <a:cs typeface="Aptos"/>
              </a:rPr>
              <a:t>Circuit breaker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673B226-345D-4B53-82AA-D28279CEE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086350"/>
            <a:ext cx="1695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Rogue-loop blocklist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114E8C3-1B24-4B48-8F10-585977287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4743450"/>
            <a:ext cx="20002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2EF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927C58C4-C6F2-4943-A18E-306A2B8D8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4743450"/>
            <a:ext cx="47625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D9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A604200D-FA08-4191-8FAF-71D3BD00B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4838700"/>
            <a:ext cx="1695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A1020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A1020"/>
                </a:solidFill>
                <a:latin typeface="Aptos"/>
                <a:ea typeface="Aptos"/>
                <a:cs typeface="Aptos"/>
              </a:rPr>
              <a:t>PQC session path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BA9AABE1-F3EF-4A01-BC4C-D4621A668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5086350"/>
            <a:ext cx="1695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Hybrid keying roadmap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111F11FB-F05B-4FB6-9F3F-3649251F0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3924300"/>
            <a:ext cx="8191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A1020"/>
                </a:solidFill>
                <a:latin typeface="Aptos Mono"/>
                <a:ea typeface="Aptos Mono"/>
                <a:cs typeface="Aptos Mono"/>
              </a:defRPr>
            </a:pPr>
            <a:r>
              <a:rPr sz="1275" b="1">
                <a:solidFill>
                  <a:srgbClr val="0A1020"/>
                </a:solidFill>
                <a:latin typeface="Aptos Mono"/>
                <a:ea typeface="Aptos Mono"/>
                <a:cs typeface="Aptos Mono"/>
              </a:rPr>
              <a:t>Agent request -&gt; passport check -&gt; policy decision -&gt; session enforcement -&gt; audit evidence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0A8F0E4C-989C-45AD-8E20-AC3B7C631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10300"/>
            <a:ext cx="366713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D9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EED5C57E-B572-4F77-BD2C-CB47894FA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8" y="6210300"/>
            <a:ext cx="366713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169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953ADA6D-6759-4B38-A15B-1618C0DAA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" y="6210300"/>
            <a:ext cx="366713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A49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2F021B38-3E82-49E4-B77F-48CC043A5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5913" y="6210300"/>
            <a:ext cx="366713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2E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BE995900-517D-406B-8001-79A00D18F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6419850"/>
            <a:ext cx="6858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8A91A3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8A91A3"/>
                </a:solidFill>
                <a:latin typeface="Aptos"/>
                <a:ea typeface="Aptos"/>
                <a:cs typeface="Aptos"/>
              </a:rPr>
              <a:t>SYNTRIASS | AIRON Trust Infrastructure | Confidential pilot deck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3E840CB4-A58E-4515-A9C9-BA773B381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62700"/>
            <a:ext cx="4000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8A91A3"/>
                </a:solidFill>
                <a:latin typeface="Aptos Mono"/>
                <a:ea typeface="Aptos Mono"/>
                <a:cs typeface="Aptos Mono"/>
              </a:defRPr>
            </a:pPr>
            <a:r>
              <a:rPr sz="825" b="0">
                <a:solidFill>
                  <a:srgbClr val="8A91A3"/>
                </a:solidFill>
                <a:latin typeface="Aptos Mono"/>
                <a:ea typeface="Aptos Mono"/>
                <a:cs typeface="Aptos Mono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332981353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288D6F6-7520-48D3-A6AF-0BFF24FB1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4E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0A9A4FA-47E1-4F02-91C9-C35C95AC1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66725"/>
            <a:ext cx="90488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D9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B4D6B6-ADDC-46A0-989F-9F44A124D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3" y="466725"/>
            <a:ext cx="90488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169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9DC77AD-51F4-4655-9045-55750C2D2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466725"/>
            <a:ext cx="90488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A49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65225B2-685A-4BBD-80B3-8DE5F42DA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8" y="466725"/>
            <a:ext cx="90488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2E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20EEB2C-3098-48CF-AC00-5BD7D16E4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0050"/>
            <a:ext cx="400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7A49F2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7A49F2"/>
                </a:solidFill>
                <a:latin typeface="Aptos"/>
                <a:ea typeface="Aptos"/>
                <a:cs typeface="Aptos"/>
              </a:rPr>
              <a:t>VALIDATION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D9081F1-C25E-4174-9B8A-8318C5B40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23900"/>
            <a:ext cx="81915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A1020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0A1020"/>
                </a:solidFill>
                <a:latin typeface="Aptos Display"/>
                <a:ea typeface="Aptos Display"/>
                <a:cs typeface="Aptos Display"/>
              </a:rPr>
              <a:t>The story has moved from code fragments to repeatable evidence.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7ED9FA0-EBA8-444B-A6F6-357658EED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924050"/>
            <a:ext cx="7429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0A1020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0A1020"/>
                </a:solidFill>
                <a:latin typeface="Aptos"/>
                <a:ea typeface="Aptos"/>
                <a:cs typeface="Aptos"/>
              </a:rPr>
              <a:t>AIP now has a testable passport schema, service endpoints, offline verifier, Python SDK, and Colab pilot harness.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188B06D-8A7D-4C25-8765-8B40218BD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86050"/>
            <a:ext cx="18097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3E6E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289CF6C-E34E-4AD4-A93E-6B278C1E6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838450"/>
            <a:ext cx="1504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7A49F2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7A49F2"/>
                </a:solidFill>
                <a:latin typeface="Aptos Display"/>
                <a:ea typeface="Aptos Display"/>
                <a:cs typeface="Aptos Display"/>
              </a:rPr>
              <a:t>113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C38494C-469E-4931-8424-E85C0E200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57550"/>
            <a:ext cx="15049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aip-core tests in local validation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27422D9-9B94-42F1-B3D7-491C14037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2686050"/>
            <a:ext cx="21907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3E6E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995591C-E3C6-4C3C-94BB-8FCC776EC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838450"/>
            <a:ext cx="1885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9D9F2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19D9F2"/>
                </a:solidFill>
                <a:latin typeface="Aptos Display"/>
                <a:ea typeface="Aptos Display"/>
                <a:cs typeface="Aptos Display"/>
              </a:rPr>
              <a:t>25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377555E-7ED4-4B7D-8F92-F71BB2A7B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3257550"/>
            <a:ext cx="18859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aip-service tests including passport verifier checks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1C7A15C-3BD8-4A74-B257-8D1752997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686050"/>
            <a:ext cx="18097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3E6E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C7305C5-8CCA-4D06-A8B0-A762DB49B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2838450"/>
            <a:ext cx="1504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4169F4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4169F4"/>
                </a:solidFill>
                <a:latin typeface="Aptos Display"/>
                <a:ea typeface="Aptos Display"/>
                <a:cs typeface="Aptos Display"/>
              </a:rPr>
              <a:t>7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27527E2-F15F-409D-8229-0549A15DE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3257550"/>
            <a:ext cx="15049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Python SDK tests covering passport UX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76AC0FC-ABB3-4100-BAFE-AF53AE0FC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686050"/>
            <a:ext cx="21907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3E6E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BC30FEA-4234-4047-91B2-F4AE8DE92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838450"/>
            <a:ext cx="1885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20A66A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20A66A"/>
                </a:solidFill>
                <a:latin typeface="Aptos Display"/>
                <a:ea typeface="Aptos Display"/>
                <a:cs typeface="Aptos Display"/>
              </a:rPr>
              <a:t>PASS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3929F59-3916-4D59-B804-0FF0EE72C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257550"/>
            <a:ext cx="18859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GitHub AIP Validation for passport implementation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F91E808-93C7-49B2-ABAA-16D1A4318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2514600"/>
            <a:ext cx="15621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F5D982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1CF296E-4F7C-4E54-908F-73B2702EC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2724150"/>
            <a:ext cx="1047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F2A900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F2A900"/>
                </a:solidFill>
                <a:latin typeface="Aptos"/>
                <a:ea typeface="Aptos"/>
                <a:cs typeface="Aptos"/>
              </a:rPr>
              <a:t>CURRENT TRL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26C67A7-FC54-41EC-82A3-6A86F9459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3028950"/>
            <a:ext cx="1047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A1020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0A1020"/>
                </a:solidFill>
                <a:latin typeface="Aptos Display"/>
                <a:ea typeface="Aptos Display"/>
                <a:cs typeface="Aptos Display"/>
              </a:rPr>
              <a:t>TRL-4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BE7CE30-68E7-4D01-9692-AD34113A0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3486150"/>
            <a:ext cx="10668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0A102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0A1020"/>
                </a:solidFill>
                <a:latin typeface="Aptos"/>
                <a:ea typeface="Aptos"/>
                <a:cs typeface="Aptos"/>
              </a:rPr>
              <a:t>Pilot evidence is next.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9C04806-81E4-4851-A8DA-63E8B1ACB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362450"/>
            <a:ext cx="1524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67085"/>
                </a:solidFill>
                <a:latin typeface="Aptos"/>
                <a:ea typeface="Aptos"/>
                <a:cs typeface="Aptos"/>
              </a:rPr>
              <a:t>EVIDENCE LADDER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0FB2232-1B89-49A2-8271-D4C783F9E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7529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169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4586FA2-16F8-47EC-B769-1704D3BEC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686300"/>
            <a:ext cx="6572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Schema: AgentPassport v1 fields and validation helpers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92BC074-6C78-4CEB-A2C7-A782CF8B8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1149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D9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8CEAE4E-D8AC-4078-8399-576672DFF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048250"/>
            <a:ext cx="6572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Service: /v1/passports/issue and /verify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2139D0A-4B2B-4153-877D-CF588AE5C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4768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A49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69E8755-1674-45C7-8A4B-840EEEF13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410200"/>
            <a:ext cx="6572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Verifier: airon-passport offline PASS / TOXIC audit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CD7F0F5-8717-485B-86E6-5D954126A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8388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2E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190F0CA-13EE-4726-9044-672AB3EC9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772150"/>
            <a:ext cx="6572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Pilot: Colab notebook exports pilot_results.json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5CE84EE-0368-4990-9F6D-7210EC1AE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10300"/>
            <a:ext cx="366713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D9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CEB48FD-E031-4EA5-9A76-E5C1C5B33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8" y="6210300"/>
            <a:ext cx="366713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169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9D237DD-B3B1-4341-8F26-5106245EF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" y="6210300"/>
            <a:ext cx="366713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A49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D2D2894-657D-49A1-B189-929F01948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5913" y="6210300"/>
            <a:ext cx="366713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2E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0C9E630-05D7-49A9-BABC-8D881C917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6419850"/>
            <a:ext cx="6858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8A91A3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8A91A3"/>
                </a:solidFill>
                <a:latin typeface="Aptos"/>
                <a:ea typeface="Aptos"/>
                <a:cs typeface="Aptos"/>
              </a:rPr>
              <a:t>SYNTRIASS | AIRON Trust Infrastructure | Confidential pilot deck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4A1F570-5E60-40EF-833B-0BC3ADE8A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62700"/>
            <a:ext cx="4000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8A91A3"/>
                </a:solidFill>
                <a:latin typeface="Aptos Mono"/>
                <a:ea typeface="Aptos Mono"/>
                <a:cs typeface="Aptos Mono"/>
              </a:defRPr>
            </a:pPr>
            <a:r>
              <a:rPr sz="825" b="0">
                <a:solidFill>
                  <a:srgbClr val="8A91A3"/>
                </a:solidFill>
                <a:latin typeface="Aptos Mono"/>
                <a:ea typeface="Aptos Mono"/>
                <a:cs typeface="Aptos Mono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866113817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A3EEA31-46FB-4BCE-906D-2A01566A7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9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358C23F-EED7-4902-A2A4-A11568F06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66725"/>
            <a:ext cx="90488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D9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B813F5-E6C3-4182-ABE7-11FCDEB18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3" y="466725"/>
            <a:ext cx="90488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169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747C4BC-8139-4E52-88E7-8D1C07D14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466725"/>
            <a:ext cx="90488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A49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0FCE908-2961-408B-9465-89C093BB6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8" y="466725"/>
            <a:ext cx="90488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2E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6CEA346-5D67-438F-884A-ADCF0050A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0050"/>
            <a:ext cx="400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C52EE8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52EE8"/>
                </a:solidFill>
                <a:latin typeface="Aptos"/>
                <a:ea typeface="Aptos"/>
                <a:cs typeface="Aptos"/>
              </a:rPr>
              <a:t>MARKET WEDGE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EC7414F-B2C7-4725-9AFB-85F79243D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23900"/>
            <a:ext cx="80010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A1020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0A1020"/>
                </a:solidFill>
                <a:latin typeface="Aptos Display"/>
                <a:ea typeface="Aptos Display"/>
                <a:cs typeface="Aptos Display"/>
              </a:rPr>
              <a:t>Regulated AI needs a trust gateway before pilots become production.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7EC3118-B420-4BB9-89CF-B571F6698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924050"/>
            <a:ext cx="7810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0A1020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0A1020"/>
                </a:solidFill>
                <a:latin typeface="Aptos"/>
                <a:ea typeface="Aptos"/>
                <a:cs typeface="Aptos"/>
              </a:rPr>
              <a:t>AIRON starts where the cost of anonymous autonomous action is highest: financial workflows, critical operations, and defense autonomy.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8BE837F-14AE-4100-BD73-E33BB9FE0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86050"/>
            <a:ext cx="3067050" cy="2514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EE3E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130ECA2-576F-466A-A1AD-AA5AEB660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86050"/>
            <a:ext cx="30670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D9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9F1F187-E13A-4F6B-BE88-03C554DD4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33700"/>
            <a:ext cx="1047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19D9F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9D9F2"/>
                </a:solidFill>
                <a:latin typeface="Aptos"/>
                <a:ea typeface="Aptos"/>
                <a:cs typeface="Aptos"/>
              </a:rPr>
              <a:t>WEDGE 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0D8B0E5-40A2-4987-90C1-F0E95CE19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257550"/>
            <a:ext cx="2476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A1020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0A1020"/>
                </a:solidFill>
                <a:latin typeface="Aptos Display"/>
                <a:ea typeface="Aptos Display"/>
                <a:cs typeface="Aptos Display"/>
              </a:rPr>
              <a:t>BFSI and fintech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8F45943-6F3C-4845-8A61-3B5DE86B4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714750"/>
            <a:ext cx="24003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0A102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0A1020"/>
                </a:solidFill>
                <a:latin typeface="Aptos"/>
                <a:ea typeface="Aptos"/>
                <a:cs typeface="Aptos"/>
              </a:rPr>
              <a:t>AI agents reading invoices, reconciling ledgers, moving cases through payment operations.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78005CF-DC56-4FBF-AF26-5AE7EE207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629150"/>
            <a:ext cx="24003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Trigger: auditability before agentic automation scales.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2C7F62C-7720-45C2-A504-F20E912AE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686050"/>
            <a:ext cx="3067050" cy="2514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EE3E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F938686-9AEA-4F51-86DA-F4986D04B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686050"/>
            <a:ext cx="30670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A49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390E7E1-8B16-4EAC-BFC8-95F104B07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933700"/>
            <a:ext cx="1047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7A49F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7A49F2"/>
                </a:solidFill>
                <a:latin typeface="Aptos"/>
                <a:ea typeface="Aptos"/>
                <a:cs typeface="Aptos"/>
              </a:rPr>
              <a:t>WEDGE 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BC8E639-E71F-46C2-B520-98655DD08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3257550"/>
            <a:ext cx="2476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A1020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0A1020"/>
                </a:solidFill>
                <a:latin typeface="Aptos Display"/>
                <a:ea typeface="Aptos Display"/>
                <a:cs typeface="Aptos Display"/>
              </a:rPr>
              <a:t>Enterprise AI teams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31EE267-5E69-4208-BAD1-6889FA22F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3714750"/>
            <a:ext cx="24003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0A102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0A1020"/>
                </a:solidFill>
                <a:latin typeface="Aptos"/>
                <a:ea typeface="Aptos"/>
                <a:cs typeface="Aptos"/>
              </a:rPr>
              <a:t>LangChain and notebook-based agents that need portable credentials and tamper-evident tool access.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6CE5155-F955-446F-A489-F74807424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4629150"/>
            <a:ext cx="24003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Trigger: internal controls for autonomous workflows.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DE8F903-80DF-4F35-9D6D-201F0C853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686050"/>
            <a:ext cx="3067050" cy="2514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EE3EF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A1DF75E-A534-4712-8BA1-8DE3AF2F5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686050"/>
            <a:ext cx="30670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2E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92118A6-A759-4A3F-B063-6698FFD0E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933700"/>
            <a:ext cx="1047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C52EE8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C52EE8"/>
                </a:solidFill>
                <a:latin typeface="Aptos"/>
                <a:ea typeface="Aptos"/>
                <a:cs typeface="Aptos"/>
              </a:rPr>
              <a:t>WEDGE 3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1CB5A2B-0C14-4B7C-8C7E-639F1BDB5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257550"/>
            <a:ext cx="2476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A1020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0A1020"/>
                </a:solidFill>
                <a:latin typeface="Aptos Display"/>
                <a:ea typeface="Aptos Display"/>
                <a:cs typeface="Aptos Display"/>
              </a:rPr>
              <a:t>Defense / critical infra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CE5249C-8CD8-45EC-9BEE-7A9DC4225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714750"/>
            <a:ext cx="24003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0A102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0A1020"/>
                </a:solidFill>
                <a:latin typeface="Aptos"/>
                <a:ea typeface="Aptos"/>
                <a:cs typeface="Aptos"/>
              </a:rPr>
              <a:t>Autonomous systems requiring a black-box record of authority, runtime, and allowed action.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E4EDFE7-CC28-426A-8BF4-ABCBA8348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629150"/>
            <a:ext cx="24003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Trigger: mission accountability and fail-closed behavior.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5A72D5E-E7AD-43A4-A3F7-595D7CC8B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5524500"/>
            <a:ext cx="7048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0FF"/>
          </a:solidFill>
          <a:ln xmlns:a="http://schemas.openxmlformats.org/drawingml/2006/main" w="9525">
            <a:solidFill>
              <a:srgbClr val="DDE2EF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45EC61B-76B6-46B2-951D-A03293688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5524500"/>
            <a:ext cx="476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169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A4F483F-94F5-43B5-806C-17AF95F95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5619750"/>
            <a:ext cx="67437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A1020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A1020"/>
                </a:solidFill>
                <a:latin typeface="Aptos"/>
                <a:ea typeface="Aptos"/>
                <a:cs typeface="Aptos"/>
              </a:rPr>
              <a:t>Pilot wedge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58CE661-E51E-44E9-B268-0AD43D966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5867400"/>
            <a:ext cx="67437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Start with Agent Passport SDK and Colab evidence. Expand to AIRON Trust Gateway once workflow authority is proven.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A665626-F98B-41F1-98AE-CAD57C56B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10300"/>
            <a:ext cx="366713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D9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8F4A46E-7D36-4585-93B1-A9E729858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8" y="6210300"/>
            <a:ext cx="366713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169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9A5DB48-655F-45E5-912B-848F7B5E3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" y="6210300"/>
            <a:ext cx="366713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A49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D8E1ACE-D660-4278-8B80-A245DAA11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5913" y="6210300"/>
            <a:ext cx="366713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2E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14B27BD-AF16-499E-BBF2-0959BCF6A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6419850"/>
            <a:ext cx="6858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8A91A3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8A91A3"/>
                </a:solidFill>
                <a:latin typeface="Aptos"/>
                <a:ea typeface="Aptos"/>
                <a:cs typeface="Aptos"/>
              </a:rPr>
              <a:t>SYNTRIASS | AIRON Trust Infrastructure | Confidential pilot deck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E32E103-3D71-4134-8BC6-8F584E53A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62700"/>
            <a:ext cx="4000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8A91A3"/>
                </a:solidFill>
                <a:latin typeface="Aptos Mono"/>
                <a:ea typeface="Aptos Mono"/>
                <a:cs typeface="Aptos Mono"/>
              </a:defRPr>
            </a:pPr>
            <a:r>
              <a:rPr sz="825" b="0">
                <a:solidFill>
                  <a:srgbClr val="8A91A3"/>
                </a:solidFill>
                <a:latin typeface="Aptos Mono"/>
                <a:ea typeface="Aptos Mono"/>
                <a:cs typeface="Aptos Mono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29029455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96BB37F-17A5-4994-8E9E-A4FA2F504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4E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B58A8EF-CD7D-4DC9-8335-A9E7FB05C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66725"/>
            <a:ext cx="90488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D9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F1DCAA4-0EE7-4102-8645-9D6089DD6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3" y="466725"/>
            <a:ext cx="90488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169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66F30E2-9BED-4D5E-B9B7-57598BA01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466725"/>
            <a:ext cx="90488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A49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488595E-05E0-4BB1-9292-F24B869BB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8" y="466725"/>
            <a:ext cx="90488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2E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A2B547F-85E3-4542-96C9-E0D9CCEFC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0050"/>
            <a:ext cx="400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4169F4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4169F4"/>
                </a:solidFill>
                <a:latin typeface="Aptos"/>
                <a:ea typeface="Aptos"/>
                <a:cs typeface="Aptos"/>
              </a:rPr>
              <a:t>MARKET SIZE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EBD1A55-701E-4661-9662-F3EB03AE8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23900"/>
            <a:ext cx="8572500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A1020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0A1020"/>
                </a:solidFill>
                <a:latin typeface="Aptos Display"/>
                <a:ea typeface="Aptos Display"/>
                <a:cs typeface="Aptos Display"/>
              </a:rPr>
              <a:t>Agent identity sits inside a fast-growing trust infrastructure market.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EE84C85-D9A6-42D1-ADC3-406AA2B75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85950"/>
            <a:ext cx="8382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A102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0A1020"/>
                </a:solidFill>
                <a:latin typeface="Aptos"/>
                <a:ea typeface="Aptos"/>
                <a:cs typeface="Aptos"/>
              </a:rPr>
              <a:t>AIRON is sized as a new trust layer across identity, AI governance, and agent infrastructure. TAM uses public market reports; SAM and SOM are AIRON operating assumptions.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B98457F-BBB5-481F-8163-6CA9282C4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14650"/>
            <a:ext cx="3009900" cy="1866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F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2C2B1A1-63DB-4B38-9701-7FE8862D9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14650"/>
            <a:ext cx="76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D9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0B1C6CD-683D-4A80-87F9-99A354328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2914650"/>
            <a:ext cx="76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169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8E0038D-49EC-4B56-9CD3-31AB00E00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2914650"/>
            <a:ext cx="76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A49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228F42D-5A1F-4A92-83D7-696B9C2DC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1325" y="2914650"/>
            <a:ext cx="76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2E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27FD61D-E78F-449F-9270-397809938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181350"/>
            <a:ext cx="114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19D9F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9D9F2"/>
                </a:solidFill>
                <a:latin typeface="Aptos"/>
                <a:ea typeface="Aptos"/>
                <a:cs typeface="Aptos"/>
              </a:rPr>
              <a:t>TAM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2E4320B-02A2-4265-9A1F-52A4C46E0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505200"/>
            <a:ext cx="2381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A1020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0A1020"/>
                </a:solidFill>
                <a:latin typeface="Aptos Display"/>
                <a:ea typeface="Aptos Display"/>
                <a:cs typeface="Aptos Display"/>
              </a:rPr>
              <a:t>~$38B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7C65524-6076-41E3-A97C-5D7AC0AA0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057650"/>
            <a:ext cx="2381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t"/>
          <a:lstStyle xmlns:a="http://schemas.openxmlformats.org/drawingml/2006/main"/>
          <a:p xmlns:a="http://schemas.openxmlformats.org/drawingml/2006/main">
            <a:pPr algn="l">
              <a:defRPr sz="108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08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Global adjacent 2026 spend pool: IAM, AI agents, and AI governance.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F6B380B-67E8-4AF0-98F1-9A81FCED2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2914650"/>
            <a:ext cx="3009900" cy="1866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F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769EED6-AD33-43BF-AD1A-7074D3678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2914650"/>
            <a:ext cx="76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D9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C162367-0D21-4330-9BE8-B4459666D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2914650"/>
            <a:ext cx="76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169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F930D94-BA1C-4540-BD2C-CF964F31F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2914650"/>
            <a:ext cx="76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A49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73192A2-D172-481E-A1DF-123B4DD57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5575" y="2914650"/>
            <a:ext cx="76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2E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10D02C5-F958-40F8-8207-6306F461F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181350"/>
            <a:ext cx="114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4169F4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4169F4"/>
                </a:solidFill>
                <a:latin typeface="Aptos"/>
                <a:ea typeface="Aptos"/>
                <a:cs typeface="Aptos"/>
              </a:rPr>
              <a:t>SAM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5B615CE-65C2-46E3-A882-38E35F946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505200"/>
            <a:ext cx="2381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A1020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0A1020"/>
                </a:solidFill>
                <a:latin typeface="Aptos Display"/>
                <a:ea typeface="Aptos Display"/>
                <a:cs typeface="Aptos Display"/>
              </a:rPr>
              <a:t>~$3.8B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3AE5670-2F6E-4279-8F4B-CC11F0A3F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057650"/>
            <a:ext cx="2381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t"/>
          <a:lstStyle xmlns:a="http://schemas.openxmlformats.org/drawingml/2006/main"/>
          <a:p xmlns:a="http://schemas.openxmlformats.org/drawingml/2006/main">
            <a:pPr algn="l">
              <a:defRPr sz="108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08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Regulated agent trust layer: BFSI, enterprise AI, government, and defense.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2A58C09-716B-4336-9A2A-C032F10DA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914650"/>
            <a:ext cx="3009900" cy="1866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F0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163FD06-931C-4A5A-84C3-C4F53573C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914650"/>
            <a:ext cx="76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D9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60D03F8-FE9A-45FF-9F0B-16AC05B59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2914650"/>
            <a:ext cx="76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169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0A04FB7-FFF3-4FAA-82D8-085C1E0BA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2914650"/>
            <a:ext cx="76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A49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BA43E72-816B-4AE2-93CD-AEF69404C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9825" y="2914650"/>
            <a:ext cx="76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2E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123C061-B12F-4432-B6F5-AFA7A863D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181350"/>
            <a:ext cx="114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C52EE8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C52EE8"/>
                </a:solidFill>
                <a:latin typeface="Aptos"/>
                <a:ea typeface="Aptos"/>
                <a:cs typeface="Aptos"/>
              </a:rPr>
              <a:t>SOM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B096E77-1A0D-4ABC-AC95-03CE50113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505200"/>
            <a:ext cx="2381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A1020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0A1020"/>
                </a:solidFill>
                <a:latin typeface="Aptos Display"/>
                <a:ea typeface="Aptos Display"/>
                <a:cs typeface="Aptos Display"/>
              </a:rPr>
              <a:t>$3-5M ARR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ADB9CCF-8186-4740-9D02-D8B56100D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057650"/>
            <a:ext cx="2381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t"/>
          <a:lstStyle xmlns:a="http://schemas.openxmlformats.org/drawingml/2006/main"/>
          <a:p xmlns:a="http://schemas.openxmlformats.org/drawingml/2006/main">
            <a:pPr algn="l">
              <a:defRPr sz="108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08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24-month wedge: paid pilots, early customers, and defense design partners.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2E32783-29C1-4925-8EBE-2D0E4E7ED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181600"/>
            <a:ext cx="91440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0FF"/>
          </a:solidFill>
          <a:ln xmlns:a="http://schemas.openxmlformats.org/drawingml/2006/main" w="9525">
            <a:solidFill>
              <a:srgbClr val="D9E4FF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9C45402-B14B-438B-BE7F-A36967423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5314950"/>
            <a:ext cx="84772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A1020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0A1020"/>
                </a:solidFill>
                <a:latin typeface="Aptos"/>
                <a:ea typeface="Aptos"/>
                <a:cs typeface="Aptos"/>
              </a:rPr>
              <a:t>Source basis: IAM ~$26.77B 2025 baseline, AI agents ~$10.91B in 2026, AI governance spend ~$0.49B in 2026. SAM assumes a 10% regulated trust-infrastructure slice; SOM assumes 20-30 paid pilot/customer conversions.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AAF5B61-DAFB-43E4-9FFB-42C12F976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10300"/>
            <a:ext cx="366713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D9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630C481-C144-473E-B5DA-BA51E60DA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8" y="6210300"/>
            <a:ext cx="366713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169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C28FDC5-791E-4622-A7A3-C596A99A4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" y="6210300"/>
            <a:ext cx="366713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A49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8EFF66C-C305-4A27-854E-AA60BF2E7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5913" y="6210300"/>
            <a:ext cx="366713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2E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4017F6C-C370-49E8-A25D-8C83CA099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6419850"/>
            <a:ext cx="6858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8A91A3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8A91A3"/>
                </a:solidFill>
                <a:latin typeface="Aptos"/>
                <a:ea typeface="Aptos"/>
                <a:cs typeface="Aptos"/>
              </a:rPr>
              <a:t>SYNTRIASS | AIRON Trust Infrastructure | Confidential pilot deck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7383E84-17C9-4043-8BF5-1FF78910F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62700"/>
            <a:ext cx="4000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8A91A3"/>
                </a:solidFill>
                <a:latin typeface="Aptos Mono"/>
                <a:ea typeface="Aptos Mono"/>
                <a:cs typeface="Aptos Mono"/>
              </a:defRPr>
            </a:pPr>
            <a:r>
              <a:rPr sz="825" b="0">
                <a:solidFill>
                  <a:srgbClr val="8A91A3"/>
                </a:solidFill>
                <a:latin typeface="Aptos Mono"/>
                <a:ea typeface="Aptos Mono"/>
                <a:cs typeface="Aptos Mono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870529807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9733B59-F19F-48DE-8765-E5F9BA534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4E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0672B9B-0E7D-4DA1-B458-9A366D104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66725"/>
            <a:ext cx="90488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D9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B55FE11-EF24-4D0C-B199-74EEA59BD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3" y="466725"/>
            <a:ext cx="90488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169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0DCE63F-50AD-4C4E-82F7-9DE838DFA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466725"/>
            <a:ext cx="90488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A49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588781E-D9FE-41E5-BBE5-4F1CB5D2C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8" y="466725"/>
            <a:ext cx="90488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2E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92E16D9-4E9C-4598-8EE5-995B9AE2B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0050"/>
            <a:ext cx="400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4169F4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4169F4"/>
                </a:solidFill>
                <a:latin typeface="Aptos"/>
                <a:ea typeface="Aptos"/>
                <a:cs typeface="Aptos"/>
              </a:rPr>
              <a:t>BUSINESS MODEL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CB76B74-AFD7-435A-9325-57F7AD247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23900"/>
            <a:ext cx="8572500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A1020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0A1020"/>
                </a:solidFill>
                <a:latin typeface="Aptos Display"/>
                <a:ea typeface="Aptos Display"/>
                <a:cs typeface="Aptos Display"/>
              </a:rPr>
              <a:t>Monetize agent trust as identity, audit, and usage infrastructure.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7369501-DAA5-432B-8080-72225C9D1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85950"/>
            <a:ext cx="7810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A102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0A1020"/>
                </a:solidFill>
                <a:latin typeface="Aptos"/>
                <a:ea typeface="Aptos"/>
                <a:cs typeface="Aptos"/>
              </a:rPr>
              <a:t>Open-source SDK adoption creates developer pull; regulated teams convert to paid identity, audit, and enforcement services.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10C5DB6-F757-4512-9691-C2785FC3E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990850"/>
            <a:ext cx="215265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F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FA34BBE-7F9F-4425-AA00-3C0ED5F9E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990850"/>
            <a:ext cx="21526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D9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D2F59DF-A233-45D9-8876-347720729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57550"/>
            <a:ext cx="1047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19D9F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9D9F2"/>
                </a:solidFill>
                <a:latin typeface="Aptos"/>
                <a:ea typeface="Aptos"/>
                <a:cs typeface="Aptos"/>
              </a:rPr>
              <a:t>MODEL 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9CC91FC-1D3A-4F9E-A072-2565085BD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581400"/>
            <a:ext cx="1714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A1020"/>
                </a:solidFill>
                <a:latin typeface="Aptos Display"/>
                <a:ea typeface="Aptos Display"/>
                <a:cs typeface="Aptos Display"/>
              </a:defRPr>
            </a:pPr>
            <a:r>
              <a:rPr sz="1425" b="1">
                <a:solidFill>
                  <a:srgbClr val="0A1020"/>
                </a:solidFill>
                <a:latin typeface="Aptos Display"/>
                <a:ea typeface="Aptos Display"/>
                <a:cs typeface="Aptos Display"/>
              </a:rPr>
              <a:t>Identity-as-a-Service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E2D5696-2E69-428B-9A2C-155A68B87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133850"/>
            <a:ext cx="16954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t"/>
          <a:lstStyle xmlns:a="http://schemas.openxmlformats.org/drawingml/2006/main"/>
          <a:p xmlns:a="http://schemas.openxmlformats.org/drawingml/2006/main">
            <a:pPr algn="l">
              <a:defRPr sz="93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3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Passport issuance, registry, revocation, scoped delegation.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3EBE966-BBD1-4DB9-BD98-BA4F9FE61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705350"/>
            <a:ext cx="1695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19D9F2"/>
                </a:solidFill>
                <a:latin typeface="Aptos"/>
                <a:ea typeface="Aptos"/>
                <a:cs typeface="Aptos"/>
              </a:defRPr>
            </a:pPr>
            <a:r>
              <a:rPr sz="863" b="1">
                <a:solidFill>
                  <a:srgbClr val="19D9F2"/>
                </a:solidFill>
                <a:latin typeface="Aptos"/>
                <a:ea typeface="Aptos"/>
                <a:cs typeface="Aptos"/>
              </a:rPr>
              <a:t>Per agent / month + API calls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87A91DD-3B9E-43E1-ACF3-0261C45AA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990850"/>
            <a:ext cx="215265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F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379BC24-CED9-4C5D-BBB8-EE22D19DC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990850"/>
            <a:ext cx="21526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169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0D9D5DF-1160-48D3-B988-F1B3D5E59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257550"/>
            <a:ext cx="1047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4169F4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4169F4"/>
                </a:solidFill>
                <a:latin typeface="Aptos"/>
                <a:ea typeface="Aptos"/>
                <a:cs typeface="Aptos"/>
              </a:rPr>
              <a:t>MODEL 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3129AFB-A78C-4674-9033-BD788258B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581400"/>
            <a:ext cx="1714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A1020"/>
                </a:solidFill>
                <a:latin typeface="Aptos Display"/>
                <a:ea typeface="Aptos Display"/>
                <a:cs typeface="Aptos Display"/>
              </a:defRPr>
            </a:pPr>
            <a:r>
              <a:rPr sz="1425" b="1">
                <a:solidFill>
                  <a:srgbClr val="0A1020"/>
                </a:solidFill>
                <a:latin typeface="Aptos Display"/>
                <a:ea typeface="Aptos Display"/>
                <a:cs typeface="Aptos Display"/>
              </a:rPr>
              <a:t>Audit-as-a-Service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965BA08-3339-4EFC-ABA5-6D24B31F6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4133850"/>
            <a:ext cx="16954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t"/>
          <a:lstStyle xmlns:a="http://schemas.openxmlformats.org/drawingml/2006/main"/>
          <a:p xmlns:a="http://schemas.openxmlformats.org/drawingml/2006/main">
            <a:pPr algn="l">
              <a:defRPr sz="93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3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EvidencePacket storage, export, verifier reports, retention.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D8F9E9C-65BB-4E28-8A97-4D70E793B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4705350"/>
            <a:ext cx="1695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4169F4"/>
                </a:solidFill>
                <a:latin typeface="Aptos"/>
                <a:ea typeface="Aptos"/>
                <a:cs typeface="Aptos"/>
              </a:defRPr>
            </a:pPr>
            <a:r>
              <a:rPr sz="863" b="1">
                <a:solidFill>
                  <a:srgbClr val="4169F4"/>
                </a:solidFill>
                <a:latin typeface="Aptos"/>
                <a:ea typeface="Aptos"/>
                <a:cs typeface="Aptos"/>
              </a:rPr>
              <a:t>Per audit packet + retention tier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FF97B3A-6675-45E0-9246-239F0C80A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2990850"/>
            <a:ext cx="215265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F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B9D943D-1CC0-4303-A115-EE261082B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2990850"/>
            <a:ext cx="21526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A49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BEBB28F-05EF-4BD9-AB08-A8C0C2F6C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257550"/>
            <a:ext cx="1047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7A49F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7A49F2"/>
                </a:solidFill>
                <a:latin typeface="Aptos"/>
                <a:ea typeface="Aptos"/>
                <a:cs typeface="Aptos"/>
              </a:rPr>
              <a:t>MODEL 3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EB0AEEB-9D38-4FB6-9842-1D627A65F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581400"/>
            <a:ext cx="1714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A1020"/>
                </a:solidFill>
                <a:latin typeface="Aptos Display"/>
                <a:ea typeface="Aptos Display"/>
                <a:cs typeface="Aptos Display"/>
              </a:defRPr>
            </a:pPr>
            <a:r>
              <a:rPr sz="1425" b="1">
                <a:solidFill>
                  <a:srgbClr val="0A1020"/>
                </a:solidFill>
                <a:latin typeface="Aptos Display"/>
                <a:ea typeface="Aptos Display"/>
                <a:cs typeface="Aptos Display"/>
              </a:rPr>
              <a:t>Usage-based pricing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BFD9F15-13AF-4208-9663-6B1F0E819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133850"/>
            <a:ext cx="16954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t"/>
          <a:lstStyle xmlns:a="http://schemas.openxmlformats.org/drawingml/2006/main"/>
          <a:p xmlns:a="http://schemas.openxmlformats.org/drawingml/2006/main">
            <a:pPr algn="l">
              <a:defRPr sz="93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3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Issue, verify, revoke, and evidence API metering.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2B4A2F2-5418-4B8C-BC18-67A893C9D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705350"/>
            <a:ext cx="1695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7A49F2"/>
                </a:solidFill>
                <a:latin typeface="Aptos"/>
                <a:ea typeface="Aptos"/>
                <a:cs typeface="Aptos"/>
              </a:defRPr>
            </a:pPr>
            <a:r>
              <a:rPr sz="863" b="1">
                <a:solidFill>
                  <a:srgbClr val="7A49F2"/>
                </a:solidFill>
                <a:latin typeface="Aptos"/>
                <a:ea typeface="Aptos"/>
                <a:cs typeface="Aptos"/>
              </a:rPr>
              <a:t>Per 1K verifications/actions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63AC71B-5885-4228-B7A1-0033E9AD2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990850"/>
            <a:ext cx="215265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F0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A3D9C3A-2F19-4EB3-B761-5B98AB5A0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990850"/>
            <a:ext cx="21526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2E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38D2E2F-1297-4DAE-A805-11EBE35DA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257550"/>
            <a:ext cx="1047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C52EE8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C52EE8"/>
                </a:solidFill>
                <a:latin typeface="Aptos"/>
                <a:ea typeface="Aptos"/>
                <a:cs typeface="Aptos"/>
              </a:rPr>
              <a:t>MODEL 4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984AB69-04AC-4969-910E-32EC90DB6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581400"/>
            <a:ext cx="1714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A1020"/>
                </a:solidFill>
                <a:latin typeface="Aptos Display"/>
                <a:ea typeface="Aptos Display"/>
                <a:cs typeface="Aptos Display"/>
              </a:defRPr>
            </a:pPr>
            <a:r>
              <a:rPr sz="1425" b="1">
                <a:solidFill>
                  <a:srgbClr val="0A1020"/>
                </a:solidFill>
                <a:latin typeface="Aptos Display"/>
                <a:ea typeface="Aptos Display"/>
                <a:cs typeface="Aptos Display"/>
              </a:rPr>
              <a:t>Enterprise / defense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8C59906-67A5-4893-B547-3C04CD2AF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133850"/>
            <a:ext cx="16954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t"/>
          <a:lstStyle xmlns:a="http://schemas.openxmlformats.org/drawingml/2006/main"/>
          <a:p xmlns:a="http://schemas.openxmlformats.org/drawingml/2006/main">
            <a:pPr algn="l">
              <a:defRPr sz="93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3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Private control plane, support, air-gapped deployment, AEGIS nodes.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E347D84-C1AA-4887-8F85-F4BC97ED0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705350"/>
            <a:ext cx="1695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C52EE8"/>
                </a:solidFill>
                <a:latin typeface="Aptos"/>
                <a:ea typeface="Aptos"/>
                <a:cs typeface="Aptos"/>
              </a:defRPr>
            </a:pPr>
            <a:r>
              <a:rPr sz="863" b="1">
                <a:solidFill>
                  <a:srgbClr val="C52EE8"/>
                </a:solidFill>
                <a:latin typeface="Aptos"/>
                <a:ea typeface="Aptos"/>
                <a:cs typeface="Aptos"/>
              </a:rPr>
              <a:t>Annual license + capacity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58E00A1-0BAE-4EB7-BF54-0B4AB646F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505450"/>
            <a:ext cx="8953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FAFD"/>
          </a:solidFill>
          <a:ln xmlns:a="http://schemas.openxmlformats.org/drawingml/2006/main" w="9525">
            <a:solidFill>
              <a:srgbClr val="CDEFF4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549284D-BBDE-4FE6-BEDA-11351068A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5619750"/>
            <a:ext cx="838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t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0A1020"/>
                </a:solidFill>
                <a:latin typeface="Aptos"/>
                <a:ea typeface="Aptos"/>
                <a:cs typeface="Aptos"/>
              </a:defRPr>
            </a:pPr>
            <a:r>
              <a:rPr sz="1088" b="0">
                <a:solidFill>
                  <a:srgbClr val="0A1020"/>
                </a:solidFill>
                <a:latin typeface="Aptos"/>
                <a:ea typeface="Aptos"/>
                <a:cs typeface="Aptos"/>
              </a:rPr>
              <a:t>Commercial path: free SDK -&gt; paid pilots -&gt; Identity-as-a-Service / Audit-as-a-Service -&gt; enterprise and defense deployments.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1DD9E14-5F54-4D72-9220-C6E008683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10300"/>
            <a:ext cx="366713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D9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3DC79F2-A185-4E00-A392-00B7753F2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8" y="6210300"/>
            <a:ext cx="366713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169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BEEEADB-6A53-4066-AC68-A4F46AA81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" y="6210300"/>
            <a:ext cx="366713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A49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9B13F07-40DD-4743-A662-1222C846F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5913" y="6210300"/>
            <a:ext cx="366713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2E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2CB581B-B11C-4B48-8A54-F640E949A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6419850"/>
            <a:ext cx="6858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8A91A3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8A91A3"/>
                </a:solidFill>
                <a:latin typeface="Aptos"/>
                <a:ea typeface="Aptos"/>
                <a:cs typeface="Aptos"/>
              </a:rPr>
              <a:t>SYNTRIASS | AIRON Trust Infrastructure | Confidential pilot deck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996C3D5-ED9B-4FA2-8BDB-4A2A98653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62700"/>
            <a:ext cx="4000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8A91A3"/>
                </a:solidFill>
                <a:latin typeface="Aptos Mono"/>
                <a:ea typeface="Aptos Mono"/>
                <a:cs typeface="Aptos Mono"/>
              </a:defRPr>
            </a:pPr>
            <a:r>
              <a:rPr sz="825" b="0">
                <a:solidFill>
                  <a:srgbClr val="8A91A3"/>
                </a:solidFill>
                <a:latin typeface="Aptos Mono"/>
                <a:ea typeface="Aptos Mono"/>
                <a:cs typeface="Aptos Mono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068516526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777C568-3817-4436-AEC4-BD4CEF923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9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05DDB9D-467A-4122-8C28-4BD99B89C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66725"/>
            <a:ext cx="90488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D9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2F2908C-EDDA-4647-AAF7-1773E7538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3" y="466725"/>
            <a:ext cx="90488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169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283A39A-554C-41DD-B0D1-B6B77DDB1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466725"/>
            <a:ext cx="90488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A49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7EB06C6-480C-4BFA-BFB9-44F5394B0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8" y="466725"/>
            <a:ext cx="90488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2E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5260D56-4E06-4189-B78A-BC7379671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0050"/>
            <a:ext cx="400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2A900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2A900"/>
                </a:solidFill>
                <a:latin typeface="Aptos"/>
                <a:ea typeface="Aptos"/>
                <a:cs typeface="Aptos"/>
              </a:rPr>
              <a:t>ROADMAP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63D52DF-A39E-4FB7-83FA-DBA1CF33F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23900"/>
            <a:ext cx="85725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A1020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0A1020"/>
                </a:solidFill>
                <a:latin typeface="Aptos Display"/>
                <a:ea typeface="Aptos Display"/>
                <a:cs typeface="Aptos Display"/>
              </a:rPr>
              <a:t>Funding converts lab truth into revenue, IP, and defense-ready evidence.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F862105-714D-4CD4-A777-82D896AA9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924050"/>
            <a:ext cx="8191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0A1020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0A1020"/>
                </a:solidFill>
                <a:latin typeface="Aptos"/>
                <a:ea typeface="Aptos"/>
                <a:cs typeface="Aptos"/>
              </a:rPr>
              <a:t>The next gate is controlled pilot evidence plus business proof: design partners, paying customers, global IP, and defense validation.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3280706-B2B8-4F6A-827E-2DF4EBCE4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429000"/>
            <a:ext cx="88582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49DECC6-6378-43EE-96DB-BD0E4F38F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286125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D9F2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258FBA2-A54A-442E-80B9-86E3DB4A1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52850"/>
            <a:ext cx="2152650" cy="1581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F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FCA1600-F95F-4D2E-B7B9-7BD6D04BE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962400"/>
            <a:ext cx="8382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19D9F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9D9F2"/>
                </a:solidFill>
                <a:latin typeface="Aptos"/>
                <a:ea typeface="Aptos"/>
                <a:cs typeface="Aptos"/>
              </a:rPr>
              <a:t>NOW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A9E5899-7718-4FF9-8035-AE65D68E0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229100"/>
            <a:ext cx="16383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A1020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0A1020"/>
                </a:solidFill>
                <a:latin typeface="Aptos Display"/>
                <a:ea typeface="Aptos Display"/>
                <a:cs typeface="Aptos Display"/>
              </a:rPr>
              <a:t>TRL-4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5D24345-930C-4845-B68E-44E77D19F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86300"/>
            <a:ext cx="17526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t"/>
          <a:lstStyle xmlns:a="http://schemas.openxmlformats.org/drawingml/2006/main"/>
          <a:p xmlns:a="http://schemas.openxmlformats.org/drawingml/2006/main">
            <a:pPr algn="l">
              <a:defRPr sz="923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23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Repo + CI validation, SDK, Colab harness, pilot pack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B42F7C5-24A6-42CE-AA87-3D667C1B0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3286125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169F4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84163AB-196C-4AB3-96F1-DCAA0A4CA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752850"/>
            <a:ext cx="2152650" cy="1581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F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EF1FAF4-B446-40E1-82B3-BE2E03BE5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3962400"/>
            <a:ext cx="8382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4169F4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4169F4"/>
                </a:solidFill>
                <a:latin typeface="Aptos"/>
                <a:ea typeface="Aptos"/>
                <a:cs typeface="Aptos"/>
              </a:rPr>
              <a:t>30 DAYS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A50C3D0-3FE9-435C-9414-E4411A32F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4229100"/>
            <a:ext cx="16383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A1020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0A1020"/>
                </a:solidFill>
                <a:latin typeface="Aptos Display"/>
                <a:ea typeface="Aptos Display"/>
                <a:cs typeface="Aptos Display"/>
              </a:rPr>
              <a:t>Design partners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F8084FC-DD19-44DF-9B3D-C3374F2A7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4686300"/>
            <a:ext cx="17526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t"/>
          <a:lstStyle xmlns:a="http://schemas.openxmlformats.org/drawingml/2006/main"/>
          <a:p xmlns:a="http://schemas.openxmlformats.org/drawingml/2006/main">
            <a:pPr algn="l">
              <a:defRPr sz="923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23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BFSI, enterprise AI, and defense pilot conversations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4D27EB4-8827-4D29-A485-71B007423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286125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A49F2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F6E53BC-7D82-42DA-A392-C4A89C560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752850"/>
            <a:ext cx="2152650" cy="1581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F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8B9CC60-E29A-45F4-83A6-92CC0032C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962400"/>
            <a:ext cx="8382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7A49F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7A49F2"/>
                </a:solidFill>
                <a:latin typeface="Aptos"/>
                <a:ea typeface="Aptos"/>
                <a:cs typeface="Aptos"/>
              </a:rPr>
              <a:t>90 DAYS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BB1166B-2BB9-46A1-91CE-8CA000B1F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229100"/>
            <a:ext cx="16383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A1020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0A1020"/>
                </a:solidFill>
                <a:latin typeface="Aptos Display"/>
                <a:ea typeface="Aptos Display"/>
                <a:cs typeface="Aptos Display"/>
              </a:rPr>
              <a:t>Revenue + IP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A6DF062-57AE-4C77-9031-020ED774A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686300"/>
            <a:ext cx="17526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t"/>
          <a:lstStyle xmlns:a="http://schemas.openxmlformats.org/drawingml/2006/main"/>
          <a:p xmlns:a="http://schemas.openxmlformats.org/drawingml/2006/main">
            <a:pPr algn="l">
              <a:defRPr sz="923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23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Paid pilot LOIs, global IP filings, PQC hardening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EACE4C8-2B2F-4E3C-8F99-C804FC13A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3286125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2EE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F409433-4412-4EF3-98FB-923F2C122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3752850"/>
            <a:ext cx="2152650" cy="1581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F0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FA9407B-E03E-4D6F-9111-FDF98A1C8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3962400"/>
            <a:ext cx="8382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C52EE8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C52EE8"/>
                </a:solidFill>
                <a:latin typeface="Aptos"/>
                <a:ea typeface="Aptos"/>
                <a:cs typeface="Aptos"/>
              </a:rPr>
              <a:t>180 DAYS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C3624A2-E97D-4462-92E1-E24D912C2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4229100"/>
            <a:ext cx="16383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A1020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0A1020"/>
                </a:solidFill>
                <a:latin typeface="Aptos Display"/>
                <a:ea typeface="Aptos Display"/>
                <a:cs typeface="Aptos Display"/>
              </a:rPr>
              <a:t>Defense GTM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AB95AD6-926A-4ED1-9564-139504CAD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4686300"/>
            <a:ext cx="17526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t"/>
          <a:lstStyle xmlns:a="http://schemas.openxmlformats.org/drawingml/2006/main"/>
          <a:p xmlns:a="http://schemas.openxmlformats.org/drawingml/2006/main">
            <a:pPr algn="l">
              <a:defRPr sz="923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23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Reference customers, defense demo, AEGIS lab dossier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4B7854A-8157-426B-A674-CF64A0281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81650"/>
            <a:ext cx="10287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F3DA92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28C640F-03BE-4904-8789-6E4C0559B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695950"/>
            <a:ext cx="9525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0A102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0A1020"/>
                </a:solidFill>
                <a:latin typeface="Aptos"/>
                <a:ea typeface="Aptos"/>
                <a:cs typeface="Aptos"/>
              </a:rPr>
              <a:t>Use of funds: pilot deployment, revenue conversion, global IP, ML-DSA hardening, defense demos, and bare-metal AEGIS test infrastructure.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4974E6F-48B2-4B4C-9A3E-92B8FDCB4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10300"/>
            <a:ext cx="366713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D9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FB02C74-0C59-468C-A2EF-0B3D914B5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8" y="6210300"/>
            <a:ext cx="366713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169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2C9DDB8-F7A7-46FB-B184-5B32B3EB9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" y="6210300"/>
            <a:ext cx="366713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A49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72D2E3E-C87E-48F6-B0A4-5AE256FF3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5913" y="6210300"/>
            <a:ext cx="366713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2E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D40CC2F-3DD8-45A0-BC9B-7377E7DFB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6419850"/>
            <a:ext cx="6858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8A91A3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8A91A3"/>
                </a:solidFill>
                <a:latin typeface="Aptos"/>
                <a:ea typeface="Aptos"/>
                <a:cs typeface="Aptos"/>
              </a:rPr>
              <a:t>SYNTRIASS | AIRON Trust Infrastructure | Confidential pilot deck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2711B69-E423-4EEE-9A4C-85BD4AED3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62700"/>
            <a:ext cx="4000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8A91A3"/>
                </a:solidFill>
                <a:latin typeface="Aptos Mono"/>
                <a:ea typeface="Aptos Mono"/>
                <a:cs typeface="Aptos Mono"/>
              </a:defRPr>
            </a:pPr>
            <a:r>
              <a:rPr sz="825" b="0">
                <a:solidFill>
                  <a:srgbClr val="8A91A3"/>
                </a:solidFill>
                <a:latin typeface="Aptos Mono"/>
                <a:ea typeface="Aptos Mono"/>
                <a:cs typeface="Aptos Mono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3688355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363367F-E2D0-4DB4-87A1-1C20D7B57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4E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6DBF28C-0814-44B7-9B40-66E3BD1A6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66725"/>
            <a:ext cx="90488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D9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0F0C886-E5B7-41C9-9EF4-A4763EA0D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3" y="466725"/>
            <a:ext cx="90488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169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34EB19F-1BF4-4979-9031-E0AEF24AE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466725"/>
            <a:ext cx="90488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A49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4F61B00-6CC1-4AE2-B4E4-F701AB8AC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8" y="466725"/>
            <a:ext cx="90488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2E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0DD26BB-FC23-443E-99A4-78A88BC69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0050"/>
            <a:ext cx="400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C52EE8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52EE8"/>
                </a:solidFill>
                <a:latin typeface="Aptos"/>
                <a:ea typeface="Aptos"/>
                <a:cs typeface="Aptos"/>
              </a:rPr>
              <a:t>USP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A02E11B-B0D0-4DE4-9032-E132F04EE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23900"/>
            <a:ext cx="88582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0A1020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0A1020"/>
                </a:solidFill>
                <a:latin typeface="Aptos Display"/>
                <a:ea typeface="Aptos Display"/>
                <a:cs typeface="Aptos Display"/>
              </a:rPr>
              <a:t>AIRON is the passport layer for agents, not just IAM, workload ID, or observability.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8E845A2-ED0B-4D82-B076-7906246EF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924050"/>
            <a:ext cx="86677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A102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0A1020"/>
                </a:solidFill>
                <a:latin typeface="Aptos"/>
                <a:ea typeface="Aptos"/>
                <a:cs typeface="Aptos"/>
              </a:rPr>
              <a:t>The wedge is not replacing established identity stacks. The wedge is the missing portable credential that proves an agent's authority, scope, lineage, and revocation state at the point of action.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E4DF22A-3F94-4CCB-A55C-EEB9B4126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14650"/>
            <a:ext cx="24003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F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ECFDFF8-F7C6-4813-8B46-7E41ABAEB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14650"/>
            <a:ext cx="24003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169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3A6A849-9CC8-4AAA-B8DE-99A047CEC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105150"/>
            <a:ext cx="200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A1020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A1020"/>
                </a:solidFill>
                <a:latin typeface="Aptos Display"/>
                <a:ea typeface="Aptos Display"/>
                <a:cs typeface="Aptos Display"/>
              </a:rPr>
              <a:t>Okta / IAM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5777706-A834-4AA3-9D2B-F34F81270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390900"/>
            <a:ext cx="20193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t"/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6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Govern users, apps, NHIs, and enterprise access.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EC3A027-E1A6-4304-BE66-6C5AE4134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810000"/>
            <a:ext cx="20193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4169F4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4169F4"/>
                </a:solidFill>
                <a:latin typeface="Aptos"/>
                <a:ea typeface="Aptos"/>
                <a:cs typeface="Aptos"/>
              </a:rPr>
              <a:t>Adds passport proof.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6250ECB-2056-4CC2-AE12-B847639B5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2914650"/>
            <a:ext cx="24003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F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21010F2-E477-4F77-A844-760FC6CE9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2914650"/>
            <a:ext cx="24003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D9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4152769-AFEF-46FD-A4F5-52E047040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105150"/>
            <a:ext cx="200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A1020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A1020"/>
                </a:solidFill>
                <a:latin typeface="Aptos Display"/>
                <a:ea typeface="Aptos Display"/>
                <a:cs typeface="Aptos Display"/>
              </a:rPr>
              <a:t>SPIFFE / SPIRE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6A9DDFD-7258-4E54-AE67-84F985177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390900"/>
            <a:ext cx="20193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t"/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6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Issue workload identities and SVIDs for services.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CFCB0F8-9EB8-4EC1-9799-1F1C33622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810000"/>
            <a:ext cx="20193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9D9F2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9D9F2"/>
                </a:solidFill>
                <a:latin typeface="Aptos"/>
                <a:ea typeface="Aptos"/>
                <a:cs typeface="Aptos"/>
              </a:rPr>
              <a:t>Adds authority lineage.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F250FAA-9D04-44B6-A08A-4B7151B21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29100"/>
            <a:ext cx="24003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F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CD9A1D9-908C-44E9-BCE2-06AFB9031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29100"/>
            <a:ext cx="24003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A49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F79DFE4-3B03-42A2-81B9-02D725EAC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419600"/>
            <a:ext cx="200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A1020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A1020"/>
                </a:solidFill>
                <a:latin typeface="Aptos Display"/>
                <a:ea typeface="Aptos Display"/>
                <a:cs typeface="Aptos Display"/>
              </a:rPr>
              <a:t>Maxim AI / evals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8968BD6-5ADC-4EA4-B5BD-34E6BDCBF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705350"/>
            <a:ext cx="20193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t"/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6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Evaluate, simulate, and observe agent behavior.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6BC3618-E74E-46C6-97B9-388657709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124450"/>
            <a:ext cx="20193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7A49F2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7A49F2"/>
                </a:solidFill>
                <a:latin typeface="Aptos"/>
                <a:ea typeface="Aptos"/>
                <a:cs typeface="Aptos"/>
              </a:rPr>
              <a:t>Adds verified authority.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A955A12-489E-4451-AA2C-742BD1109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4229100"/>
            <a:ext cx="24003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F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8B2CB8D-EC27-4E24-88EA-178EBA3D7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4229100"/>
            <a:ext cx="24003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2E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78AB78D-4E95-464B-992E-501FBC873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4419600"/>
            <a:ext cx="200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A1020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A1020"/>
                </a:solidFill>
                <a:latin typeface="Aptos Display"/>
                <a:ea typeface="Aptos Display"/>
                <a:cs typeface="Aptos Display"/>
              </a:rPr>
              <a:t>API gateways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7A35461-C697-4AB2-821D-D759E13B0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4705350"/>
            <a:ext cx="20193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t"/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6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Route APIs and enforce request-level access.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1C9F6BB-42F0-41DB-81B8-7436EA190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5124450"/>
            <a:ext cx="20193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C52EE8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52EE8"/>
                </a:solidFill>
                <a:latin typeface="Aptos"/>
                <a:ea typeface="Aptos"/>
                <a:cs typeface="Aptos"/>
              </a:rPr>
              <a:t>Adds audit evidence.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E1F4DC8-469C-407E-B4FD-0DB516983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895600"/>
            <a:ext cx="4762500" cy="2800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002B"/>
          </a:solidFill>
          <a:ln xmlns:a="http://schemas.openxmlformats.org/drawingml/2006/main" w="9525">
            <a:solidFill>
              <a:srgbClr val="07002B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598BDC3-29DE-40B0-AEE4-9FF232E6B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895600"/>
            <a:ext cx="1200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D9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F59C258-A516-4271-8ED1-407E937C7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2895600"/>
            <a:ext cx="1200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169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C38EA87-4B7F-4131-8B88-C4093166C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2895600"/>
            <a:ext cx="1200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A49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158CA7D-10D4-4B38-8675-3DBE06FA3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7925" y="2895600"/>
            <a:ext cx="1200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2E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B449EDF-E07B-4CC2-A5FF-95C5FDB36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3143250"/>
            <a:ext cx="209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19D9F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9D9F2"/>
                </a:solidFill>
                <a:latin typeface="Aptos"/>
                <a:ea typeface="Aptos"/>
                <a:cs typeface="Aptos"/>
              </a:rPr>
              <a:t>AIRON DIFFERENCE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133D9C6-D696-412E-B41E-49511858C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3429000"/>
            <a:ext cx="3810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Portable credential, cryptographic finality, enforceable boundary.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3119BC0-9DCD-4062-BD7A-5DB8AF209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4391025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D9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A946D46-0CB0-48C7-99A9-A3654EDE0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4343400"/>
            <a:ext cx="3657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t"/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DCE4F5"/>
                </a:solidFill>
                <a:latin typeface="Aptos"/>
                <a:ea typeface="Aptos"/>
                <a:cs typeface="Aptos"/>
              </a:defRPr>
            </a:pPr>
            <a:r>
              <a:rPr sz="960" b="0">
                <a:solidFill>
                  <a:srgbClr val="DCE4F5"/>
                </a:solidFill>
                <a:latin typeface="Aptos"/>
                <a:ea typeface="Aptos"/>
                <a:cs typeface="Aptos"/>
              </a:rPr>
              <a:t>Travels with LangChain, notebooks, APIs, and audits.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364C1BA-83B6-437F-AA39-D55A3826E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462915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169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DAC0BA3-C868-4DCB-9073-DAE250DE5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4581525"/>
            <a:ext cx="3657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t"/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DCE4F5"/>
                </a:solidFill>
                <a:latin typeface="Aptos"/>
                <a:ea typeface="Aptos"/>
                <a:cs typeface="Aptos"/>
              </a:defRPr>
            </a:pPr>
            <a:r>
              <a:rPr sz="960" b="0">
                <a:solidFill>
                  <a:srgbClr val="DCE4F5"/>
                </a:solidFill>
                <a:latin typeface="Aptos"/>
                <a:ea typeface="Aptos"/>
                <a:cs typeface="Aptos"/>
              </a:rPr>
              <a:t>Binds human authority to agent action.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88F7900-D6E5-4969-A98A-5968FD0F9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4867275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A49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49911F6-287F-4246-9B60-9C3055C92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4819650"/>
            <a:ext cx="3657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t"/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DCE4F5"/>
                </a:solidFill>
                <a:latin typeface="Aptos"/>
                <a:ea typeface="Aptos"/>
                <a:cs typeface="Aptos"/>
              </a:defRPr>
            </a:pPr>
            <a:r>
              <a:rPr sz="960" b="0">
                <a:solidFill>
                  <a:srgbClr val="DCE4F5"/>
                </a:solidFill>
                <a:latin typeface="Aptos"/>
                <a:ea typeface="Aptos"/>
                <a:cs typeface="Aptos"/>
              </a:rPr>
              <a:t>Limits scope with lattice, expiry, and revocation.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8550BC8-EC66-495E-96B6-ACB7E233B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510540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2E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FABE4A7A-42B5-4A68-AF4E-9CBBC0D8D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5057775"/>
            <a:ext cx="3657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t"/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DCE4F5"/>
                </a:solidFill>
                <a:latin typeface="Aptos"/>
                <a:ea typeface="Aptos"/>
                <a:cs typeface="Aptos"/>
              </a:defRPr>
            </a:pPr>
            <a:r>
              <a:rPr sz="960" b="0">
                <a:solidFill>
                  <a:srgbClr val="DCE4F5"/>
                </a:solidFill>
                <a:latin typeface="Aptos"/>
                <a:ea typeface="Aptos"/>
                <a:cs typeface="Aptos"/>
              </a:rPr>
              <a:t>Verifies offline as PASS or TOXIC.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AFEB2342-7827-499E-9430-794446274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5343525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A66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A5397580-8196-4B86-B7A9-CE5B3414B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5295900"/>
            <a:ext cx="3657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t"/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DCE4F5"/>
                </a:solidFill>
                <a:latin typeface="Aptos"/>
                <a:ea typeface="Aptos"/>
                <a:cs typeface="Aptos"/>
              </a:defRPr>
            </a:pPr>
            <a:r>
              <a:rPr sz="960" b="0">
                <a:solidFill>
                  <a:srgbClr val="DCE4F5"/>
                </a:solidFill>
                <a:latin typeface="Aptos"/>
                <a:ea typeface="Aptos"/>
                <a:cs typeface="Aptos"/>
              </a:rPr>
              <a:t>Connects to AEGIS for network containment.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C310318E-07AD-485B-B56A-5EAA0823D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886450"/>
            <a:ext cx="99441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0FF"/>
          </a:solidFill>
          <a:ln xmlns:a="http://schemas.openxmlformats.org/drawingml/2006/main" w="9525">
            <a:solidFill>
              <a:srgbClr val="D9E4FF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9F4B70DB-FADE-4C54-91A4-58245E6E4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5972175"/>
            <a:ext cx="933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t"/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0A1020"/>
                </a:solidFill>
                <a:latin typeface="Aptos"/>
                <a:ea typeface="Aptos"/>
                <a:cs typeface="Aptos"/>
              </a:defRPr>
            </a:pPr>
            <a:r>
              <a:rPr sz="1013" b="0">
                <a:solidFill>
                  <a:srgbClr val="0A1020"/>
                </a:solidFill>
                <a:latin typeface="Aptos"/>
                <a:ea typeface="Aptos"/>
                <a:cs typeface="Aptos"/>
              </a:rPr>
              <a:t>Positioning: works beside Okta and SPIFFE; competes where agent-specific proof, revocation, and forensic accountability are mandatory.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6195426A-793B-4DCD-9F5A-7A5233DF6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10300"/>
            <a:ext cx="366713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D9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3DC1FE6A-0B3A-4C3F-807A-0A5FADEDD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8" y="6210300"/>
            <a:ext cx="366713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169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D913D75B-DD50-49CD-BB4A-1EAED687A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" y="6210300"/>
            <a:ext cx="366713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A49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6FECF245-F3B9-46CA-9A21-99E4E8273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5913" y="6210300"/>
            <a:ext cx="366713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2E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8AD9D3D7-9FE0-4566-9F10-0503B6336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6419850"/>
            <a:ext cx="6858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8A91A3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8A91A3"/>
                </a:solidFill>
                <a:latin typeface="Aptos"/>
                <a:ea typeface="Aptos"/>
                <a:cs typeface="Aptos"/>
              </a:rPr>
              <a:t>SYNTRIASS | AIRON Trust Infrastructure | Confidential pilot deck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5437E472-9877-4DE7-9CAD-1FD4D5183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62700"/>
            <a:ext cx="4000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8A91A3"/>
                </a:solidFill>
                <a:latin typeface="Aptos Mono"/>
                <a:ea typeface="Aptos Mono"/>
                <a:cs typeface="Aptos Mono"/>
              </a:defRPr>
            </a:pPr>
            <a:r>
              <a:rPr sz="825" b="0">
                <a:solidFill>
                  <a:srgbClr val="8A91A3"/>
                </a:solidFill>
                <a:latin typeface="Aptos Mono"/>
                <a:ea typeface="Aptos Mono"/>
                <a:cs typeface="Aptos Mono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400827474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A122C3D-33B9-4289-9D02-EDCD1AC99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002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FC8B072-C2FB-4579-ADC1-6E60AF0C2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057525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D9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7836A35-C5CA-4D1F-9FD8-50C19F418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0"/>
            <a:ext cx="3057525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169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0969E03-2F80-4447-9F51-12D26537A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0"/>
            <a:ext cx="3057525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A49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93FA2EF-948D-41A0-91E8-292BA29E8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3057525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2E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650bd4189104051"/>
          <a:stretch xmlns:a="http://schemas.openxmlformats.org/drawingml/2006/main"/>
        </p:blipFill>
        <p:spPr>
          <a:xfrm xmlns:a="http://schemas.openxmlformats.org/drawingml/2006/main">
            <a:off x="8953500" y="609600"/>
            <a:ext cx="1524000" cy="152400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3C067D9-8D7B-43A4-8CB3-629EC1691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1975"/>
            <a:ext cx="90488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D9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EEF04C8-1B55-4557-8245-2FA30EAC5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3" y="561975"/>
            <a:ext cx="90488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169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7B08A9F-0367-40B6-A0D8-545698C4C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561975"/>
            <a:ext cx="90488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A49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1173918-46D2-4D5E-ACED-7811D56A4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8" y="561975"/>
            <a:ext cx="90488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2E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7F1F095-6E07-4D3F-A3D7-8A729413A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95300"/>
            <a:ext cx="400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9D9F2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9D9F2"/>
                </a:solidFill>
                <a:latin typeface="Aptos"/>
                <a:ea typeface="Aptos"/>
                <a:cs typeface="Aptos"/>
              </a:rPr>
              <a:t>ASK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CBFF153-F873-4685-BC76-ADE617B37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90600"/>
            <a:ext cx="72390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32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Back the Agent Passport pilot and the AIRON Trust Gateway roadmap.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B7B73F4-EC0B-43BE-88A3-AADC57A9D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781300"/>
            <a:ext cx="72390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D8DEEC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D8DEEC"/>
                </a:solidFill>
                <a:latin typeface="Aptos"/>
                <a:ea typeface="Aptos"/>
                <a:cs typeface="Aptos"/>
              </a:rPr>
              <a:t>We are seeking VC conversations, RDI/TDB support, and design partners: agent workflows first, gateway infrastructure next.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BAE0FB3-BC45-417E-8C32-A908F848A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638550"/>
            <a:ext cx="67627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0A43"/>
          </a:solidFill>
          <a:ln xmlns:a="http://schemas.openxmlformats.org/drawingml/2006/main" w="9525">
            <a:solidFill>
              <a:srgbClr val="2A236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A93D55C-9C1E-495A-8A9F-B6C0D95C8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771900"/>
            <a:ext cx="28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9D9F2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19D9F2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F6BF5E0-A7E2-4E70-BAFD-45B9ACA0A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752850"/>
            <a:ext cx="5524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45" b="0">
                <a:solidFill>
                  <a:srgbClr val="DCE4F5"/>
                </a:solidFill>
                <a:latin typeface="Aptos"/>
                <a:ea typeface="Aptos"/>
                <a:cs typeface="Aptos"/>
              </a:defRPr>
            </a:pPr>
            <a:r>
              <a:rPr sz="945" b="0">
                <a:solidFill>
                  <a:srgbClr val="DCE4F5"/>
                </a:solidFill>
                <a:latin typeface="Aptos"/>
                <a:ea typeface="Aptos"/>
                <a:cs typeface="Aptos"/>
              </a:rPr>
              <a:t>VC investors: Lead or join a strategic pre-seed/seed round for Agent Passport pilots and GTM.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5DBF9C5-84CE-4229-B7B9-0209C5899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229100"/>
            <a:ext cx="67627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0A43"/>
          </a:solidFill>
          <a:ln xmlns:a="http://schemas.openxmlformats.org/drawingml/2006/main" w="9525">
            <a:solidFill>
              <a:srgbClr val="2A2366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426A0D6-2712-4592-A654-6EA19B943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362450"/>
            <a:ext cx="28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4169F4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4169F4"/>
                </a:solidFill>
                <a:latin typeface="Aptos Display"/>
                <a:ea typeface="Aptos Display"/>
                <a:cs typeface="Aptos Display"/>
              </a:rPr>
              <a:t>2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ECE8BDE-CF55-4880-AFF9-147A7F54A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343400"/>
            <a:ext cx="5524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45" b="0">
                <a:solidFill>
                  <a:srgbClr val="DCE4F5"/>
                </a:solidFill>
                <a:latin typeface="Aptos"/>
                <a:ea typeface="Aptos"/>
                <a:cs typeface="Aptos"/>
              </a:defRPr>
            </a:pPr>
            <a:r>
              <a:rPr sz="945" b="0">
                <a:solidFill>
                  <a:srgbClr val="DCE4F5"/>
                </a:solidFill>
                <a:latin typeface="Aptos"/>
                <a:ea typeface="Aptos"/>
                <a:cs typeface="Aptos"/>
              </a:rPr>
              <a:t>Design partners: Run the Colab pilot against a deployed AIP service and return pilot_results.json.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9CC3C0D-190C-4712-9BB3-90F7AD0BE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819650"/>
            <a:ext cx="67627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0A43"/>
          </a:solidFill>
          <a:ln xmlns:a="http://schemas.openxmlformats.org/drawingml/2006/main" w="9525">
            <a:solidFill>
              <a:srgbClr val="2A2366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F2D8ED4-DD60-4A0C-B9C3-02BF72144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953000"/>
            <a:ext cx="28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A49F2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7A49F2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D5B9CCE-2CF0-4C6B-9134-AFEACE94F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933950"/>
            <a:ext cx="5524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45" b="0">
                <a:solidFill>
                  <a:srgbClr val="DCE4F5"/>
                </a:solidFill>
                <a:latin typeface="Aptos"/>
                <a:ea typeface="Aptos"/>
                <a:cs typeface="Aptos"/>
              </a:defRPr>
            </a:pPr>
            <a:r>
              <a:rPr sz="945" b="0">
                <a:solidFill>
                  <a:srgbClr val="DCE4F5"/>
                </a:solidFill>
                <a:latin typeface="Aptos"/>
                <a:ea typeface="Aptos"/>
                <a:cs typeface="Aptos"/>
              </a:rPr>
              <a:t>RDI support: Fund TRL-5/6 validation: deployment, cryptographic hardening, and bare-metal lab.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988CFB1-CE03-494E-980E-B3C6A6B4A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410200"/>
            <a:ext cx="67627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0A43"/>
          </a:solidFill>
          <a:ln xmlns:a="http://schemas.openxmlformats.org/drawingml/2006/main" w="9525">
            <a:solidFill>
              <a:srgbClr val="2A2366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825D52B-4276-445B-AE0E-B0C5356A4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543550"/>
            <a:ext cx="28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52EE8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C52EE8"/>
                </a:solidFill>
                <a:latin typeface="Aptos Display"/>
                <a:ea typeface="Aptos Display"/>
                <a:cs typeface="Aptos Display"/>
              </a:rPr>
              <a:t>4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49715C3-0922-4171-8893-02CBEC851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524500"/>
            <a:ext cx="5524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45" b="0">
                <a:solidFill>
                  <a:srgbClr val="DCE4F5"/>
                </a:solidFill>
                <a:latin typeface="Aptos"/>
                <a:ea typeface="Aptos"/>
                <a:cs typeface="Aptos"/>
              </a:defRPr>
            </a:pPr>
            <a:r>
              <a:rPr sz="945" b="0">
                <a:solidFill>
                  <a:srgbClr val="DCE4F5"/>
                </a:solidFill>
                <a:latin typeface="Aptos"/>
                <a:ea typeface="Aptos"/>
                <a:cs typeface="Aptos"/>
              </a:rPr>
              <a:t>Technical diligence: Review the repo, CI artifacts, passport verifier, and validation ladder.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7644EBC-39B2-40B9-9DF3-58528E267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3314700"/>
            <a:ext cx="2724150" cy="2266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D049E81-D4AE-4BF6-9286-E136DB873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3581400"/>
            <a:ext cx="1428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A10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A1020"/>
                </a:solidFill>
                <a:latin typeface="Aptos Display"/>
                <a:ea typeface="Aptos Display"/>
                <a:cs typeface="Aptos Display"/>
              </a:rPr>
              <a:t>Next step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C198F73-8EA9-4DAE-91DB-CE1D8E712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4019550"/>
            <a:ext cx="21717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t"/>
          <a:lstStyle xmlns:a="http://schemas.openxmlformats.org/drawingml/2006/main"/>
          <a:p xmlns:a="http://schemas.openxmlformats.org/drawingml/2006/main">
            <a:pPr algn="l">
              <a:defRPr sz="1163" b="0">
                <a:solidFill>
                  <a:srgbClr val="0A1020"/>
                </a:solidFill>
                <a:latin typeface="Aptos"/>
                <a:ea typeface="Aptos"/>
                <a:cs typeface="Aptos"/>
              </a:defRPr>
            </a:pPr>
            <a:r>
              <a:rPr sz="1163" b="0">
                <a:solidFill>
                  <a:srgbClr val="0A1020"/>
                </a:solidFill>
                <a:latin typeface="Aptos"/>
                <a:ea typeface="Aptos"/>
                <a:cs typeface="Aptos"/>
              </a:rPr>
              <a:t>Send the deck to VCs with the pilot ask: capital, regulated intros, and technical diligence on the Agent Passport evidence stack.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10544B2-EBF6-4FE7-841D-F56336C93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5257800"/>
            <a:ext cx="414338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D9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0A459AB-2758-4B2B-A853-0B65A8B3B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1613" y="5257800"/>
            <a:ext cx="414338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169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0057EAB-5157-428D-8FE9-89DE7BAED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96425" y="5257800"/>
            <a:ext cx="414338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A49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EF79284-9CB2-4407-B18D-467BEF978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1238" y="5257800"/>
            <a:ext cx="414338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2E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CC9F5DE-EFAF-4CA9-82A1-B30BBD509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10300"/>
            <a:ext cx="366713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D9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D22E29C-2DB2-4616-A474-150E33DAD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8" y="6210300"/>
            <a:ext cx="366713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169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DD2E070-D60D-4C69-9FFD-341BE5A4A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" y="6210300"/>
            <a:ext cx="366713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A49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6071D87-72E5-44D0-BA29-8F1F7CE5E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5913" y="6210300"/>
            <a:ext cx="366713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2E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5491896-16D3-4F1B-8ADD-D284B115C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6419850"/>
            <a:ext cx="6858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8A91A3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8A91A3"/>
                </a:solidFill>
                <a:latin typeface="Aptos"/>
                <a:ea typeface="Aptos"/>
                <a:cs typeface="Aptos"/>
              </a:rPr>
              <a:t>SYNTRIASS | AIRON pitch deck | Funding support and pilots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B3B10E3-74C1-4BE2-9DF2-A73EE4E06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62700"/>
            <a:ext cx="4000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8A91A3"/>
                </a:solidFill>
                <a:latin typeface="Aptos Mono"/>
                <a:ea typeface="Aptos Mono"/>
                <a:cs typeface="Aptos Mono"/>
              </a:defRPr>
            </a:pPr>
            <a:r>
              <a:rPr sz="825" b="0">
                <a:solidFill>
                  <a:srgbClr val="8A91A3"/>
                </a:solidFill>
                <a:latin typeface="Aptos Mono"/>
                <a:ea typeface="Aptos Mono"/>
                <a:cs typeface="Aptos Mono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78302309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2026-06-03T17:18:10.2830000Z</dcterms:created>
  <dcterms:modified xsi:type="dcterms:W3CDTF">2026-06-03T17:18:10.2830000Z</dcterms:modified>
</coreProperties>
</file>